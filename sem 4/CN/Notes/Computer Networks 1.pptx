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aleway"/>
      <p:regular r:id="rId28"/>
      <p:bold r:id="rId29"/>
      <p:italic r:id="rId30"/>
      <p:boldItalic r:id="rId31"/>
    </p:embeddedFont>
    <p:embeddedFont>
      <p:font typeface="Roboto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boldItalic.fntdata"/><Relationship Id="rId30" Type="http://schemas.openxmlformats.org/officeDocument/2006/relationships/font" Target="fonts/Raleway-italic.fntdata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37" Type="http://schemas.openxmlformats.org/officeDocument/2006/relationships/font" Target="fonts/Lato-bold.fntdata"/><Relationship Id="rId14" Type="http://schemas.openxmlformats.org/officeDocument/2006/relationships/slide" Target="slides/slide9.xml"/><Relationship Id="rId36" Type="http://schemas.openxmlformats.org/officeDocument/2006/relationships/font" Target="fonts/Lato-regular.fntdata"/><Relationship Id="rId17" Type="http://schemas.openxmlformats.org/officeDocument/2006/relationships/slide" Target="slides/slide12.xml"/><Relationship Id="rId39" Type="http://schemas.openxmlformats.org/officeDocument/2006/relationships/font" Target="fonts/Lato-boldItalic.fntdata"/><Relationship Id="rId16" Type="http://schemas.openxmlformats.org/officeDocument/2006/relationships/slide" Target="slides/slide11.xml"/><Relationship Id="rId38" Type="http://schemas.openxmlformats.org/officeDocument/2006/relationships/font" Target="fonts/La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b402b4f1b0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b402b4f1b0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6a423f5c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6a423f5c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b402b4f1b0_0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b402b4f1b0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b402b4f1b0_0_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b402b4f1b0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6a423f5cf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6a423f5cf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b402b4f1b0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b402b4f1b0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402b4f1b0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b402b4f1b0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b402b4f1b0_0_9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b402b4f1b0_0_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b402b4f1b0_0_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b402b4f1b0_0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b402b4f1b0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b402b4f1b0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b402b4f1b0_0_1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b402b4f1b0_0_1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b402b4f1b0_0_1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b402b4f1b0_0_1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b402b4f1b0_0_1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b402b4f1b0_0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b402b4f1b0_0_1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b402b4f1b0_0_1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b402b4f1b0_0_1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b402b4f1b0_0_1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b402b4f1b0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b402b4f1b0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b402b4f1b0_0_1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b402b4f1b0_0_1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b402b4f1b0_0_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b402b4f1b0_0_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b402b4f1b0_0_1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b402b4f1b0_0_1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b402b4f1b0_0_1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b402b4f1b0_0_1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b402b4f1b0_0_1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b402b4f1b0_0_1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GYwqzmuf4Ig" TargetMode="External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Networks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677600" y="3069750"/>
            <a:ext cx="7688100" cy="7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PPT-1: </a:t>
            </a:r>
            <a:r>
              <a:rPr lang="en"/>
              <a:t>Overview of Computer Networks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844875" y="4068575"/>
            <a:ext cx="7688100" cy="7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Anand</a:t>
            </a:r>
            <a:endParaRPr b="1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 of Computer Science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Keshav Mahavidyalaya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computer network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computer network is a set of interconnected </a:t>
            </a:r>
            <a:br>
              <a:rPr lang="en"/>
            </a:br>
            <a:r>
              <a:rPr lang="en"/>
              <a:t>computers that communicate with each other </a:t>
            </a:r>
            <a:br>
              <a:rPr lang="en"/>
            </a:br>
            <a:r>
              <a:rPr lang="en"/>
              <a:t>and share resources.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purpose of a computer </a:t>
            </a:r>
            <a:br>
              <a:rPr lang="en"/>
            </a:br>
            <a:r>
              <a:rPr lang="en"/>
              <a:t>network is to enable the exchange of information </a:t>
            </a:r>
            <a:br>
              <a:rPr lang="en"/>
            </a:br>
            <a:r>
              <a:rPr lang="en"/>
              <a:t>and resources among different devices.</a:t>
            </a:r>
            <a:endParaRPr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2450" y="1144650"/>
            <a:ext cx="3269600" cy="32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422600" y="4414250"/>
            <a:ext cx="312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Ref. Partial map of the Internet based on the January 15, 2005 data found on opte.org</a:t>
            </a:r>
            <a:br>
              <a:rPr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Computer Network Wikipedia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Characteristics</a:t>
            </a:r>
            <a:r>
              <a:rPr lang="en"/>
              <a:t> of Computer Network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Delivery : Sending to correct destination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Accuracy : No mismatch in Data  / Error Free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Timeliness : It should reachin proper time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Jitter : </a:t>
            </a:r>
            <a:r>
              <a:rPr lang="en"/>
              <a:t>Variation</a:t>
            </a:r>
            <a:r>
              <a:rPr lang="en"/>
              <a:t> in packet delivery delay</a:t>
            </a:r>
            <a:endParaRPr/>
          </a:p>
        </p:txBody>
      </p:sp>
      <p:pic>
        <p:nvPicPr>
          <p:cNvPr descr="Tools to measure jitter: https://searchunifiedcommunications.techtarget.com/answer/What-are-some-tools-to-measure-jitter?utm_source=youtube&amp;utm_medium=description&amp;utm_campaign=12021Jitter&amp;utm_content=Jitter&amp;Offer=OTHR-youtube_OTHR-video_OTHR-Jitter_2021January7_Jitter &#10;This mini glossary covers the problems that can affect communications quality: https://searchunifiedcommunications.techtarget.com/feature/Understand-UC-quality-issues-and-which-QoS-tools-can-solve-them?utm_source=youtube&amp;utm_medium=description&amp;utm_campaign=032021UC&amp;utm_content=UC?Offer=OTHR-youtube_OTHR-video_OTHR-UC_2021March06_UC&#10;&#10;Do you ever get jittery? Maybe after having too much coffee? Well, so do computers. In computers, jitter is any deviation in signal pulses in a high frequency digital signal. The result? Unwanted glitchy effects, like screen flickering or poor performance. Some jitter isn’t so bad -- but higher levels for certain applications can greatly impact user experience. &#10;&#10;Have you ever experienced the effects of jitter? How did you mitigate it? Share your thoughts in the comments, and hit that like button too.&#10;&#10;&#10;Stay up to date on the latest business analytics news: https://searchmobilecomputing.techtarget.com/news  &#10;&#10;Follow us on Twitter: https://twitter.com/@TT_Infra &#10;&#10;Like us on Facebook: https://www.facebook.com/TechTargetInfrastructure  &#10;&#10;#Jitter #JitterLevels #EyeOnTech" id="103" name="Google Shape;103;p15" title="What is Jitter and How Much Jitter is Acceptable?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0650" y="2257975"/>
            <a:ext cx="3777500" cy="2124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of a Computer Network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Connectivity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Scalability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Reliability - fault tolerance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Performance: </a:t>
            </a:r>
            <a:r>
              <a:rPr i="1" lang="en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Throughput &amp; delay</a:t>
            </a:r>
            <a:endParaRPr i="1"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Security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Interoperability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Manageability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QoS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 startAt="9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Flexibility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 startAt="9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Distributed Processing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 startAt="9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Resource Sharing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 startAt="9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Accessibility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 startAt="9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Cost-Effectiveness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 startAt="9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Adaptability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 startAt="9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Standardization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491650" y="3838025"/>
            <a:ext cx="792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Performance can be measured in many ways, including transit time and response time. Transit time is the amount of time required for a message to travel from one device to another. Response time is the elapsed time between an inquiry and a response. 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components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Message:</a:t>
            </a:r>
            <a:r>
              <a:rPr lang="en"/>
              <a:t> Information that is to be transmitted. E.g. Text, Numbers, Pictures, Audio , Video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Nodes/Devices</a:t>
            </a:r>
            <a:r>
              <a:rPr lang="en"/>
              <a:t>: These are the individual computers, servers, printers, routers, and other devices that are connected to the network.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Communication Links</a:t>
            </a:r>
            <a:r>
              <a:rPr lang="en"/>
              <a:t>: These are the physical or wireless connections that allow data to be transmitted between nodes.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Protocol </a:t>
            </a:r>
            <a:r>
              <a:rPr lang="en"/>
              <a:t>: Set of Rules that govern the data communication.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350" y="4110275"/>
            <a:ext cx="3522125" cy="6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3499" y="3498950"/>
            <a:ext cx="2099325" cy="153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Representation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/>
              <a:t>Text</a:t>
            </a:r>
            <a:r>
              <a:rPr lang="en"/>
              <a:t> : Represented as bit patterns or sequence of bits ( 1100110)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/>
              <a:t>Numbers</a:t>
            </a:r>
            <a:r>
              <a:rPr lang="en"/>
              <a:t> : Bit </a:t>
            </a:r>
            <a:r>
              <a:rPr lang="en"/>
              <a:t>Pattern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/>
              <a:t>Images</a:t>
            </a:r>
            <a:r>
              <a:rPr lang="en"/>
              <a:t> : Matrix of pixels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Black or white (0/1)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Gray color (0-255)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Color Image 3 Matrices, one for each color (RGB)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/>
              <a:t>Audio</a:t>
            </a:r>
            <a:r>
              <a:rPr lang="en"/>
              <a:t>: voice , recording, music -&gt; Analog to digital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/>
              <a:t>VIdeo : </a:t>
            </a:r>
            <a:r>
              <a:rPr lang="en"/>
              <a:t>Sequence</a:t>
            </a:r>
            <a:r>
              <a:rPr lang="en"/>
              <a:t> of pictures which may include audio as well contained in a single file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Typical </a:t>
            </a:r>
            <a:r>
              <a:rPr lang="en"/>
              <a:t>Elements</a:t>
            </a:r>
            <a:r>
              <a:rPr lang="en"/>
              <a:t> of a Network</a:t>
            </a:r>
            <a:endParaRPr/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End Devices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Intermediary devices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Types of</a:t>
            </a:r>
            <a:r>
              <a:rPr lang="en"/>
              <a:t> communication links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Wired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Wireless</a:t>
            </a: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 rotWithShape="1">
          <a:blip r:embed="rId3">
            <a:alphaModFix/>
          </a:blip>
          <a:srcRect b="13307" l="0" r="0" t="0"/>
          <a:stretch/>
        </p:blipFill>
        <p:spPr>
          <a:xfrm>
            <a:off x="3344775" y="2195438"/>
            <a:ext cx="5596851" cy="20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Transmission Modes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b="1" lang="en"/>
              <a:t>Simplex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TV Transmission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K</a:t>
            </a:r>
            <a:r>
              <a:rPr lang="en"/>
              <a:t>eyboard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Monitor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b="1" lang="en"/>
              <a:t>Half Duplex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Walkie talkie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b="1" lang="en"/>
              <a:t>Full Duplex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Telephone</a:t>
            </a:r>
            <a:endParaRPr/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1347" y="1800352"/>
            <a:ext cx="4361400" cy="2818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Protocols</a:t>
            </a:r>
            <a:endParaRPr/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684850" y="21309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 protocol is a set of rules and conventions that govern how data is exchanged and transmitted between devices within a network. </a:t>
            </a:r>
            <a:r>
              <a:rPr lang="en"/>
              <a:t> They ensure that devices from different manufacturers or running different software can communicate effectively.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Protocols define: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Format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Timing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Sequencing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Error control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9950" y="3173800"/>
            <a:ext cx="1218202" cy="121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1675" y="3173800"/>
            <a:ext cx="1218202" cy="121820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/>
          <p:nvPr/>
        </p:nvSpPr>
        <p:spPr>
          <a:xfrm>
            <a:off x="6262400" y="3704900"/>
            <a:ext cx="825000" cy="1560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5354925" y="4489400"/>
            <a:ext cx="371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7623200" y="4489400"/>
            <a:ext cx="371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Elements of Protocol</a:t>
            </a:r>
            <a:endParaRPr/>
          </a:p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Message Encoding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Message </a:t>
            </a:r>
            <a:r>
              <a:rPr lang="en"/>
              <a:t>formatting</a:t>
            </a:r>
            <a:r>
              <a:rPr lang="en"/>
              <a:t> and encapsulation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Message</a:t>
            </a:r>
            <a:r>
              <a:rPr lang="en"/>
              <a:t> timing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Message size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Message Delivery Options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 Encoding</a:t>
            </a:r>
            <a:endParaRPr/>
          </a:p>
        </p:txBody>
      </p:sp>
      <p:cxnSp>
        <p:nvCxnSpPr>
          <p:cNvPr id="162" name="Google Shape;162;p23"/>
          <p:cNvCxnSpPr>
            <a:stCxn id="163" idx="2"/>
            <a:endCxn id="164" idx="0"/>
          </p:cNvCxnSpPr>
          <p:nvPr/>
        </p:nvCxnSpPr>
        <p:spPr>
          <a:xfrm flipH="1" rot="-5400000">
            <a:off x="2122825" y="2195000"/>
            <a:ext cx="202200" cy="5514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65" name="Google Shape;165;p23"/>
          <p:cNvCxnSpPr>
            <a:stCxn id="166" idx="0"/>
            <a:endCxn id="164" idx="2"/>
          </p:cNvCxnSpPr>
          <p:nvPr/>
        </p:nvCxnSpPr>
        <p:spPr>
          <a:xfrm flipH="1" rot="5400000">
            <a:off x="2763700" y="2673850"/>
            <a:ext cx="202200" cy="7305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3" name="Google Shape;163;p23"/>
          <p:cNvSpPr txBox="1"/>
          <p:nvPr/>
        </p:nvSpPr>
        <p:spPr>
          <a:xfrm>
            <a:off x="1177975" y="2003300"/>
            <a:ext cx="15405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Message Source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1730500" y="2571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Encoder</a:t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(Signal)</a:t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3"/>
          <p:cNvSpPr txBox="1"/>
          <p:nvPr/>
        </p:nvSpPr>
        <p:spPr>
          <a:xfrm>
            <a:off x="2461000" y="314020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Transmitter</a:t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3891850" y="3782975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Transmission Medium</a:t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" name="Google Shape;168;p23"/>
          <p:cNvCxnSpPr>
            <a:stCxn id="166" idx="2"/>
            <a:endCxn id="167" idx="0"/>
          </p:cNvCxnSpPr>
          <p:nvPr/>
        </p:nvCxnSpPr>
        <p:spPr>
          <a:xfrm flipH="1" rot="-5400000">
            <a:off x="3807250" y="2929300"/>
            <a:ext cx="276600" cy="1431000"/>
          </a:xfrm>
          <a:prstGeom prst="bentConnector3">
            <a:avLst>
              <a:gd fmla="val 49977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med" w="med" type="none"/>
            <a:tailEnd len="med" w="med" type="none"/>
          </a:ln>
        </p:spPr>
      </p:cxnSp>
      <p:sp>
        <p:nvSpPr>
          <p:cNvPr id="169" name="Google Shape;169;p23"/>
          <p:cNvSpPr txBox="1"/>
          <p:nvPr/>
        </p:nvSpPr>
        <p:spPr>
          <a:xfrm>
            <a:off x="5311500" y="314020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Receiver</a:t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0" name="Google Shape;170;p23"/>
          <p:cNvCxnSpPr>
            <a:stCxn id="169" idx="2"/>
            <a:endCxn id="167" idx="0"/>
          </p:cNvCxnSpPr>
          <p:nvPr/>
        </p:nvCxnSpPr>
        <p:spPr>
          <a:xfrm rot="5400000">
            <a:off x="5232450" y="2935000"/>
            <a:ext cx="276600" cy="1419600"/>
          </a:xfrm>
          <a:prstGeom prst="bentConnector3">
            <a:avLst>
              <a:gd fmla="val 49977" name="adj1"/>
            </a:avLst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3"/>
          <p:cNvSpPr txBox="1"/>
          <p:nvPr/>
        </p:nvSpPr>
        <p:spPr>
          <a:xfrm>
            <a:off x="6207175" y="2571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Decoder</a:t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(Signal)</a:t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3"/>
          <p:cNvSpPr txBox="1"/>
          <p:nvPr/>
        </p:nvSpPr>
        <p:spPr>
          <a:xfrm>
            <a:off x="7006250" y="200330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Message Destination</a:t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" name="Google Shape;173;p23"/>
          <p:cNvCxnSpPr>
            <a:stCxn id="171" idx="2"/>
            <a:endCxn id="169" idx="0"/>
          </p:cNvCxnSpPr>
          <p:nvPr/>
        </p:nvCxnSpPr>
        <p:spPr>
          <a:xfrm rot="5400000">
            <a:off x="6427225" y="2591250"/>
            <a:ext cx="202200" cy="8958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3"/>
          <p:cNvCxnSpPr>
            <a:stCxn id="172" idx="2"/>
            <a:endCxn id="171" idx="0"/>
          </p:cNvCxnSpPr>
          <p:nvPr/>
        </p:nvCxnSpPr>
        <p:spPr>
          <a:xfrm rot="5400000">
            <a:off x="7274600" y="2071100"/>
            <a:ext cx="202200" cy="7992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</a:t>
            </a:r>
            <a:r>
              <a:rPr lang="en"/>
              <a:t> </a:t>
            </a:r>
            <a:r>
              <a:rPr lang="en"/>
              <a:t>Formatting</a:t>
            </a:r>
            <a:endParaRPr/>
          </a:p>
        </p:txBody>
      </p:sp>
      <p:sp>
        <p:nvSpPr>
          <p:cNvPr id="180" name="Google Shape;180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Agreed</a:t>
            </a:r>
            <a:r>
              <a:rPr lang="en"/>
              <a:t> Format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Encapsulate to identify sender and receiver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Source and Destination address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 Timing</a:t>
            </a:r>
            <a:endParaRPr/>
          </a:p>
        </p:txBody>
      </p:sp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Flow Control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Slow Receiver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High speed Sender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Response Timeout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8275" y="3627225"/>
            <a:ext cx="2104324" cy="105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 Size</a:t>
            </a:r>
            <a:endParaRPr/>
          </a:p>
        </p:txBody>
      </p:sp>
      <p:sp>
        <p:nvSpPr>
          <p:cNvPr id="193" name="Google Shape;193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Long messages must be broken into smaller pieces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6726" y="2498150"/>
            <a:ext cx="3670271" cy="226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 Delivery Options</a:t>
            </a:r>
            <a:endParaRPr/>
          </a:p>
        </p:txBody>
      </p:sp>
      <p:sp>
        <p:nvSpPr>
          <p:cNvPr id="200" name="Google Shape;200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Unicast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Multicast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Broadcast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8900" y="2229925"/>
            <a:ext cx="5373375" cy="215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Architecture / Models</a:t>
            </a:r>
            <a:endParaRPr/>
          </a:p>
        </p:txBody>
      </p:sp>
      <p:pic>
        <p:nvPicPr>
          <p:cNvPr id="207" name="Google Shape;20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800" y="2118350"/>
            <a:ext cx="609600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Equipment used in</a:t>
            </a:r>
            <a:r>
              <a:rPr lang="en"/>
              <a:t> Computer Network </a:t>
            </a:r>
            <a:endParaRPr/>
          </a:p>
        </p:txBody>
      </p:sp>
      <p:sp>
        <p:nvSpPr>
          <p:cNvPr id="213" name="Google Shape;213;p29"/>
          <p:cNvSpPr txBox="1"/>
          <p:nvPr>
            <p:ph idx="1" type="body"/>
          </p:nvPr>
        </p:nvSpPr>
        <p:spPr>
          <a:xfrm>
            <a:off x="729450" y="2078875"/>
            <a:ext cx="7688700" cy="26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End Nodes</a:t>
            </a:r>
            <a:endParaRPr b="1"/>
          </a:p>
          <a:p>
            <a:pPr indent="-28019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Computers</a:t>
            </a:r>
            <a:endParaRPr/>
          </a:p>
          <a:p>
            <a:pPr indent="-28019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Network Printers</a:t>
            </a:r>
            <a:endParaRPr/>
          </a:p>
          <a:p>
            <a:pPr indent="-28019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VOIP Phones</a:t>
            </a:r>
            <a:endParaRPr/>
          </a:p>
          <a:p>
            <a:pPr indent="-28019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Network Security Cameras</a:t>
            </a:r>
            <a:endParaRPr/>
          </a:p>
          <a:p>
            <a:pPr indent="-28019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Mobile Devices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Intermediary</a:t>
            </a:r>
            <a:r>
              <a:rPr b="1" lang="en"/>
              <a:t> Devices</a:t>
            </a:r>
            <a:endParaRPr b="1"/>
          </a:p>
          <a:p>
            <a:pPr indent="-28019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Repeater</a:t>
            </a:r>
            <a:endParaRPr/>
          </a:p>
          <a:p>
            <a:pPr indent="-28019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Hub</a:t>
            </a:r>
            <a:endParaRPr/>
          </a:p>
          <a:p>
            <a:pPr indent="-28019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Bridge</a:t>
            </a:r>
            <a:endParaRPr/>
          </a:p>
          <a:p>
            <a:pPr indent="-28019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Switch</a:t>
            </a:r>
            <a:endParaRPr/>
          </a:p>
          <a:p>
            <a:pPr indent="-28019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Router</a:t>
            </a:r>
            <a:endParaRPr/>
          </a:p>
          <a:p>
            <a:pPr indent="-28019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Access Point</a:t>
            </a:r>
            <a:endParaRPr/>
          </a:p>
          <a:p>
            <a:pPr indent="-28019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Modem</a:t>
            </a:r>
            <a:endParaRPr/>
          </a:p>
          <a:p>
            <a:pPr indent="-28019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Firewall</a:t>
            </a:r>
            <a:endParaRPr/>
          </a:p>
          <a:p>
            <a:pPr indent="-28019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Gateway</a:t>
            </a:r>
            <a:endParaRPr/>
          </a:p>
        </p:txBody>
      </p:sp>
      <p:pic>
        <p:nvPicPr>
          <p:cNvPr id="214" name="Google Shape;214;p29"/>
          <p:cNvPicPr preferRelativeResize="0"/>
          <p:nvPr/>
        </p:nvPicPr>
        <p:blipFill rotWithShape="1">
          <a:blip r:embed="rId3">
            <a:alphaModFix/>
          </a:blip>
          <a:srcRect b="0" l="-1502" r="0" t="0"/>
          <a:stretch/>
        </p:blipFill>
        <p:spPr>
          <a:xfrm>
            <a:off x="3515725" y="2103750"/>
            <a:ext cx="5358999" cy="280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4575" y="630875"/>
            <a:ext cx="1969650" cy="21638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6" name="Google Shape;216;p29"/>
          <p:cNvCxnSpPr>
            <a:stCxn id="215" idx="0"/>
          </p:cNvCxnSpPr>
          <p:nvPr/>
        </p:nvCxnSpPr>
        <p:spPr>
          <a:xfrm rot="5400000">
            <a:off x="6399300" y="835775"/>
            <a:ext cx="1755000" cy="1345200"/>
          </a:xfrm>
          <a:prstGeom prst="curvedConnector3">
            <a:avLst>
              <a:gd fmla="val 97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Equipment used in Computer Network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Link (Media)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Wired or guided media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Ethernet straight through cable: </a:t>
            </a:r>
            <a:r>
              <a:rPr i="1" lang="en"/>
              <a:t>for connecting different kind of devices</a:t>
            </a:r>
            <a:endParaRPr i="1"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Ethernet Crossover cable: </a:t>
            </a:r>
            <a:r>
              <a:rPr i="1" lang="en"/>
              <a:t>for connecting same kind of devices</a:t>
            </a:r>
            <a:endParaRPr i="1"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Fiber optic cable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Co-axial cables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USB Cables</a:t>
            </a:r>
            <a:br>
              <a:rPr lang="en"/>
            </a:b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Wireless or unguided media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/>
              <a:t>Infrared</a:t>
            </a:r>
            <a:r>
              <a:rPr lang="en"/>
              <a:t> : </a:t>
            </a:r>
            <a:r>
              <a:rPr i="1" lang="en"/>
              <a:t>TV Remote, AC remote ,etc…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/>
              <a:t>Radio Waves</a:t>
            </a:r>
            <a:r>
              <a:rPr lang="en"/>
              <a:t>: </a:t>
            </a:r>
            <a:r>
              <a:rPr i="1" lang="en"/>
              <a:t>Wifi,  Bluetooth</a:t>
            </a:r>
            <a:endParaRPr i="1"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/>
              <a:t>Microwaves</a:t>
            </a:r>
            <a:r>
              <a:rPr lang="en"/>
              <a:t>: </a:t>
            </a:r>
            <a:r>
              <a:rPr i="1" lang="en"/>
              <a:t>Cellular System, Satellite link</a:t>
            </a:r>
            <a:endParaRPr i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Taxonomy</a:t>
            </a:r>
            <a:endParaRPr/>
          </a:p>
        </p:txBody>
      </p:sp>
      <p:sp>
        <p:nvSpPr>
          <p:cNvPr id="228" name="Google Shape;228;p31"/>
          <p:cNvSpPr txBox="1"/>
          <p:nvPr>
            <p:ph idx="1" type="body"/>
          </p:nvPr>
        </p:nvSpPr>
        <p:spPr>
          <a:xfrm>
            <a:off x="677425" y="21234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Transmission Technology</a:t>
            </a:r>
            <a:endParaRPr/>
          </a:p>
          <a:p>
            <a:pPr indent="-29876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Point to Point Network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Broadcast Network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Non Broadcast Multi Access Network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Scale</a:t>
            </a:r>
            <a:endParaRPr/>
          </a:p>
          <a:p>
            <a:pPr indent="-29876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PAN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LAN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MAN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WAN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INTERNET</a:t>
            </a:r>
            <a:endParaRPr/>
          </a:p>
        </p:txBody>
      </p:sp>
      <p:pic>
        <p:nvPicPr>
          <p:cNvPr id="229" name="Google Shape;229;p31"/>
          <p:cNvPicPr preferRelativeResize="0"/>
          <p:nvPr/>
        </p:nvPicPr>
        <p:blipFill rotWithShape="1">
          <a:blip r:embed="rId3">
            <a:alphaModFix/>
          </a:blip>
          <a:srcRect b="13356" l="0" r="7817" t="23464"/>
          <a:stretch/>
        </p:blipFill>
        <p:spPr>
          <a:xfrm>
            <a:off x="4719825" y="2029150"/>
            <a:ext cx="3604900" cy="26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on the basis of Scale</a:t>
            </a:r>
            <a:endParaRPr/>
          </a:p>
        </p:txBody>
      </p:sp>
      <p:pic>
        <p:nvPicPr>
          <p:cNvPr id="235" name="Google Shape;23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350" y="1917050"/>
            <a:ext cx="6389294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650" y="408201"/>
            <a:ext cx="6082699" cy="432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Lecture</a:t>
            </a:r>
            <a:endParaRPr/>
          </a:p>
        </p:txBody>
      </p:sp>
      <p:sp>
        <p:nvSpPr>
          <p:cNvPr id="246" name="Google Shape;246;p34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Network Topology</a:t>
            </a:r>
            <a:endParaRPr/>
          </a:p>
        </p:txBody>
      </p:sp>
      <p:pic>
        <p:nvPicPr>
          <p:cNvPr id="247" name="Google Shape;2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2625" y="2242213"/>
            <a:ext cx="4162425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