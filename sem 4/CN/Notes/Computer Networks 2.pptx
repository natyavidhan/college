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aleway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La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5" roundtripDataSignature="AMtx7mjkiECcpDKCsfUPzFEV5vI3Sz7r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B6DB44A-7EF8-46BD-82AE-68DF8F5A6317}">
  <a:tblStyle styleId="{9B6DB44A-7EF8-46BD-82AE-68DF8F5A631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aleway-bold.fntdata"/><Relationship Id="rId23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aleway-boldItalic.fntdata"/><Relationship Id="rId25" Type="http://schemas.openxmlformats.org/officeDocument/2006/relationships/font" Target="fonts/Raleway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Lato-italic.fntdata"/><Relationship Id="rId10" Type="http://schemas.openxmlformats.org/officeDocument/2006/relationships/slide" Target="slides/slide4.xml"/><Relationship Id="rId32" Type="http://schemas.openxmlformats.org/officeDocument/2006/relationships/font" Target="fonts/Lato-bold.fntdata"/><Relationship Id="rId13" Type="http://schemas.openxmlformats.org/officeDocument/2006/relationships/slide" Target="slides/slide7.xml"/><Relationship Id="rId35" Type="http://customschemas.google.com/relationships/presentationmetadata" Target="metadata"/><Relationship Id="rId12" Type="http://schemas.openxmlformats.org/officeDocument/2006/relationships/slide" Target="slides/slide6.xml"/><Relationship Id="rId34" Type="http://schemas.openxmlformats.org/officeDocument/2006/relationships/font" Target="fonts/La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b008e1a3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bb008e1a3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b008e1a3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bb008e1a3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bb008e1a3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g3bb008e1a3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bb008e1a3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bb008e1a3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b008e1a3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bb008e1a3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" name="Google Shape;14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0" name="Google Shape;20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" name="Google Shape;2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" name="Google Shape;27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8" name="Google Shape;28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" name="Google Shape;38;p1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9" name="Google Shape;3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" name="Google Shape;41;p1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6" name="Google Shape;46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" name="Google Shape;48;p18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3" name="Google Shape;53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" name="Google Shape;55;p19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6" name="Google Shape;56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2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9" name="Google Shape;59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5" name="Google Shape;65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6" name="Google Shape;66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" name="Google Shape;68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9" name="Google Shape;69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0" name="Google Shape;70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4" name="Google Shape;74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7" name="Google Shape;77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" name="Google Shape;79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i="0" sz="28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Computer Networks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677600" y="3069750"/>
            <a:ext cx="76881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PPT-2: Network Topology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844875" y="4068575"/>
            <a:ext cx="76881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b="1" lang="en"/>
              <a:t>Anand</a:t>
            </a:r>
            <a:endParaRPr b="1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Department of Computer Science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7"/>
              <a:buNone/>
            </a:pPr>
            <a:r>
              <a:rPr lang="en"/>
              <a:t>Keshav Mahavidyalaya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Network Topology</a:t>
            </a:r>
            <a:endParaRPr/>
          </a:p>
        </p:txBody>
      </p:sp>
      <p:sp>
        <p:nvSpPr>
          <p:cNvPr id="94" name="Google Shape;94;p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8107"/>
              <a:buNone/>
            </a:pPr>
            <a:r>
              <a:rPr lang="en"/>
              <a:t>Network topology refers to the physical or logical arrangement of nodes (devices) and the way they are interconnected within a computer network. It defines how data is transmitted between devices and the structure of the network.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8107"/>
              <a:buNone/>
            </a:pPr>
            <a:r>
              <a:t/>
            </a:r>
            <a:endParaRPr/>
          </a:p>
          <a:p>
            <a:pPr indent="-30502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Bus</a:t>
            </a:r>
            <a:endParaRPr/>
          </a:p>
          <a:p>
            <a:pPr indent="-3050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Ring</a:t>
            </a:r>
            <a:endParaRPr/>
          </a:p>
          <a:p>
            <a:pPr indent="-3050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Star</a:t>
            </a:r>
            <a:endParaRPr/>
          </a:p>
          <a:p>
            <a:pPr indent="-3050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Mesh</a:t>
            </a:r>
            <a:endParaRPr/>
          </a:p>
          <a:p>
            <a:pPr indent="-3050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Tree</a:t>
            </a:r>
            <a:endParaRPr/>
          </a:p>
          <a:p>
            <a:pPr indent="-30502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Hybrid</a:t>
            </a:r>
            <a:endParaRPr/>
          </a:p>
        </p:txBody>
      </p:sp>
      <p:pic>
        <p:nvPicPr>
          <p:cNvPr id="95" name="Google Shape;9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9125" y="2731675"/>
            <a:ext cx="3597475" cy="204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Bus</a:t>
            </a:r>
            <a:endParaRPr/>
          </a:p>
        </p:txBody>
      </p:sp>
      <p:sp>
        <p:nvSpPr>
          <p:cNvPr id="101" name="Google Shape;101;p3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Advantages of Bus Topology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37415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Simplicity and Cost-Effectiveness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Ease of Installation and Expansion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Suitable for Small Networks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Less Cable Usage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2" name="Google Shape;1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1375" y="659796"/>
            <a:ext cx="2750775" cy="1194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Disadvantages of Bus Topology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Limited Scalability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Single Point of Failure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Performance Issues with Heavy Traffic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Security and Privacy Concerns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Limited Cable Length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Not Suitable for High-Bandwidth Applications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729450" y="4216025"/>
            <a:ext cx="6407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Bus topology is most commonly associated with </a:t>
            </a:r>
            <a:r>
              <a:rPr b="1" lang="en" sz="1100"/>
              <a:t>IEEE 802.3 (Ethernet). </a:t>
            </a:r>
            <a:r>
              <a:rPr lang="en" sz="1100"/>
              <a:t>Modern Ethernet still follows </a:t>
            </a:r>
            <a:r>
              <a:rPr b="1" lang="en" sz="1100"/>
              <a:t>IEEE 802.3</a:t>
            </a:r>
            <a:r>
              <a:rPr lang="en" sz="1100"/>
              <a:t>, but the </a:t>
            </a:r>
            <a:r>
              <a:rPr b="1" lang="en" sz="1100"/>
              <a:t>physical topology shifted to star</a:t>
            </a:r>
            <a:r>
              <a:rPr lang="en" sz="1100"/>
              <a:t> (using switches)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Ring</a:t>
            </a:r>
            <a:endParaRPr/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Advantages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Simplicity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Equal Access to Resources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Transmission Efficiency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(unidirectional - avoid collision)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Ease of Expansion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4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ct val="117117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Disadvantages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Single Point of Failure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Difficult Fault Identification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Limited Scalability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○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Longer transmission time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Slower Data Transfer Rates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○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If number of nodes increases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Complex Network Management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Less secure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17117"/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4050" y="532900"/>
            <a:ext cx="2260400" cy="14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867675" y="4171525"/>
            <a:ext cx="640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IEEE 802.5 — Token Ring, </a:t>
            </a:r>
            <a:r>
              <a:rPr b="1" lang="en" sz="1100"/>
              <a:t>Developed by:</a:t>
            </a:r>
            <a:r>
              <a:rPr lang="en" sz="1100"/>
              <a:t> IBM, </a:t>
            </a:r>
            <a:r>
              <a:rPr b="1" lang="en" sz="1100"/>
              <a:t>Collision-free</a:t>
            </a:r>
            <a:r>
              <a:rPr lang="en" sz="1100"/>
              <a:t> (only the device with the token can transmit)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Star</a:t>
            </a:r>
            <a:endParaRPr/>
          </a:p>
        </p:txBody>
      </p:sp>
      <p:sp>
        <p:nvSpPr>
          <p:cNvPr id="119" name="Google Shape;119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Advantages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Centralized Management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Easy to Install and Expand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Reliable Performance 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Isolation of Devices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Scalability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Better Performance in Heavy Traffic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Security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" name="Google Shape;120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Disadvantages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Single Point of Failure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Dependency on Central Hub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Cost of Installation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Addition central device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Limited Scalability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Scalability Limits with Hub Capacity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1" name="Google Shape;12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4850" y="793675"/>
            <a:ext cx="2217625" cy="1386016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1023425" y="4449625"/>
            <a:ext cx="6407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IEEE 802.3 — (Modern Ethernet)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Mesh</a:t>
            </a:r>
            <a:endParaRPr/>
          </a:p>
        </p:txBody>
      </p:sp>
      <p:sp>
        <p:nvSpPr>
          <p:cNvPr id="128" name="Google Shape;128;p6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Advantages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Redundancy and Reliability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Fault Tolerance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Supports Point-to-Point Communication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Privacy and Security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6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Disadvantages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Cost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Complexity of Installation and Maintenance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Limited Scalability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○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High Wiring Requirements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7894" y="609550"/>
            <a:ext cx="1719525" cy="146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7"/>
          <p:cNvPicPr preferRelativeResize="0"/>
          <p:nvPr/>
        </p:nvPicPr>
        <p:blipFill rotWithShape="1">
          <a:blip r:embed="rId3">
            <a:alphaModFix/>
          </a:blip>
          <a:srcRect b="17108" l="0" r="0" t="15903"/>
          <a:stretch/>
        </p:blipFill>
        <p:spPr>
          <a:xfrm>
            <a:off x="3286125" y="660700"/>
            <a:ext cx="2571750" cy="119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Tree</a:t>
            </a:r>
            <a:endParaRPr/>
          </a:p>
        </p:txBody>
      </p:sp>
      <p:sp>
        <p:nvSpPr>
          <p:cNvPr id="137" name="Google Shape;137;p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Advantages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Easily scalable and expandable.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Hierarchical structure for better organization.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Fault isolation within branches.	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Efficient use of resources with a central hub.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Centralized control for easier management.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Easy to expand without disrupting the network.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" name="Google Shape;138;p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Disadvantages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Dependent on the central root node.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Can become complex to manage as it grows.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Requires more cables, leading to higher costs.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Performance may degrade with increased load.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Expensive and time-consuming maintenance.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Limited by the bandwidth of the backbone.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Hybrid</a:t>
            </a:r>
            <a:endParaRPr/>
          </a:p>
        </p:txBody>
      </p:sp>
      <p:sp>
        <p:nvSpPr>
          <p:cNvPr id="144" name="Google Shape;144;p8"/>
          <p:cNvSpPr txBox="1"/>
          <p:nvPr>
            <p:ph idx="1" type="body"/>
          </p:nvPr>
        </p:nvSpPr>
        <p:spPr>
          <a:xfrm>
            <a:off x="729325" y="2078875"/>
            <a:ext cx="51648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300"/>
              <a:buNone/>
            </a:pPr>
            <a:r>
              <a:rPr lang="en" sz="1200">
                <a:solidFill>
                  <a:srgbClr val="374151"/>
                </a:solidFill>
                <a:latin typeface="Roboto"/>
                <a:ea typeface="Roboto"/>
                <a:cs typeface="Roboto"/>
                <a:sym typeface="Roboto"/>
              </a:rPr>
              <a:t>The purpose of implementing a hybrid topology is to leverage the strengths of multiple topologies while mitigating their individual weaknesses. By combining different topologies, a hybrid network can be customized to meet specific requirements and provide a more flexible and robust infrastructure. </a:t>
            </a:r>
            <a:endParaRPr sz="1200">
              <a:solidFill>
                <a:srgbClr val="37415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Improved Reliability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Scalability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Cost Efficiency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Optimized Performance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Enhanced Security</a:t>
            </a:r>
            <a:endParaRPr sz="12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1075" y="2571750"/>
            <a:ext cx="2527175" cy="14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813" y="152400"/>
            <a:ext cx="6048376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Problems on Topology</a:t>
            </a:r>
            <a:endParaRPr/>
          </a:p>
        </p:txBody>
      </p:sp>
      <p:graphicFrame>
        <p:nvGraphicFramePr>
          <p:cNvPr id="156" name="Google Shape;156;p10"/>
          <p:cNvGraphicFramePr/>
          <p:nvPr/>
        </p:nvGraphicFramePr>
        <p:xfrm>
          <a:off x="870725" y="221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{9B6DB44A-7EF8-46BD-82AE-68DF8F5A6317}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Topology</a:t>
                      </a:r>
                      <a:endParaRPr sz="11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Nodes</a:t>
                      </a:r>
                      <a:br>
                        <a:rPr lang="en" sz="1100" u="none" cap="none" strike="noStrike"/>
                      </a:br>
                      <a:r>
                        <a:rPr lang="en" sz="1100" u="none" cap="none" strike="noStrike"/>
                        <a:t>(N)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No of Cables</a:t>
                      </a:r>
                      <a:br>
                        <a:rPr lang="en" sz="1100" u="none" cap="none" strike="noStrike"/>
                      </a:br>
                      <a:r>
                        <a:rPr lang="en" sz="1100" u="none" cap="none" strike="noStrike"/>
                        <a:t>(NC)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No. of Ports per device</a:t>
                      </a:r>
                      <a:br>
                        <a:rPr lang="en" sz="1100" u="none" cap="none" strike="noStrike"/>
                      </a:br>
                      <a:r>
                        <a:rPr lang="en" sz="1100" u="none" cap="none" strike="noStrike"/>
                        <a:t>(NOP)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/>
                        <a:t>Total No. of Ports</a:t>
                      </a:r>
                      <a:br>
                        <a:rPr lang="en" sz="1100" u="none" cap="none" strike="noStrike"/>
                      </a:br>
                      <a:r>
                        <a:rPr lang="en" sz="1100" u="none" cap="none" strike="noStrike"/>
                        <a:t>(TNOP)</a:t>
                      </a:r>
                      <a:endParaRPr sz="11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Bus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 + 1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Ring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2xN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Star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Mesh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N(N-1)/2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N-1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N(N-1)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1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Next Lecture</a:t>
            </a:r>
            <a:endParaRPr/>
          </a:p>
        </p:txBody>
      </p:sp>
      <p:pic>
        <p:nvPicPr>
          <p:cNvPr id="162" name="Google Shape;16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375" y="2571750"/>
            <a:ext cx="270510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b008e1a39_0_16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/>
              <a:t>Computer Networks</a:t>
            </a:r>
            <a:endParaRPr/>
          </a:p>
        </p:txBody>
      </p:sp>
      <p:sp>
        <p:nvSpPr>
          <p:cNvPr id="168" name="Google Shape;168;g3bb008e1a39_0_16"/>
          <p:cNvSpPr txBox="1"/>
          <p:nvPr>
            <p:ph idx="1" type="subTitle"/>
          </p:nvPr>
        </p:nvSpPr>
        <p:spPr>
          <a:xfrm>
            <a:off x="677600" y="3069750"/>
            <a:ext cx="7688100" cy="7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PPT-2b: Network Topology 2b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  <p:sp>
        <p:nvSpPr>
          <p:cNvPr id="169" name="Google Shape;169;g3bb008e1a39_0_16"/>
          <p:cNvSpPr txBox="1"/>
          <p:nvPr>
            <p:ph idx="1" type="subTitle"/>
          </p:nvPr>
        </p:nvSpPr>
        <p:spPr>
          <a:xfrm>
            <a:off x="844875" y="4068575"/>
            <a:ext cx="76881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b="1" lang="en"/>
              <a:t>Anand</a:t>
            </a:r>
            <a:endParaRPr b="1"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Department of Computer Science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7646"/>
              <a:buNone/>
            </a:pPr>
            <a:r>
              <a:rPr lang="en"/>
              <a:t>Keshav Mahavidyalaya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b008e1a39_0_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IEEE</a:t>
            </a:r>
            <a:endParaRPr/>
          </a:p>
        </p:txBody>
      </p:sp>
      <p:sp>
        <p:nvSpPr>
          <p:cNvPr id="175" name="Google Shape;175;g3bb008e1a39_0_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IEEE (pronounced "Eye-triple-E")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"/>
              <a:t>IEEE</a:t>
            </a:r>
            <a:r>
              <a:rPr lang="en"/>
              <a:t> stands for the Institute of Electrical and Electronics Engineers, the world's largest technical professional organization, dedicated to advancing technology and innovation.</a:t>
            </a:r>
            <a:br>
              <a:rPr lang="en"/>
            </a:br>
            <a:br>
              <a:rPr lang="en"/>
            </a:br>
            <a:r>
              <a:rPr b="1" lang="en"/>
              <a:t>IEEE 802.3</a:t>
            </a:r>
            <a:r>
              <a:rPr lang="en"/>
              <a:t> is the IEEE standard that defines </a:t>
            </a:r>
            <a:r>
              <a:rPr b="1" lang="en"/>
              <a:t>Ethernet</a:t>
            </a:r>
            <a:r>
              <a:rPr lang="en"/>
              <a:t>—the most widely used technology for wired local area networks (LANs).</a:t>
            </a:r>
            <a:br>
              <a:rPr lang="en"/>
            </a:br>
            <a:br>
              <a:rPr lang="en"/>
            </a:br>
            <a:r>
              <a:rPr lang="en"/>
              <a:t>IEEE 802.3 specifies: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Physical layer (Layer 1)</a:t>
            </a:r>
            <a:endParaRPr/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Data Link layer – MAC sublayer (Layer 2)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b008e1a39_0_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81" name="Google Shape;181;g3bb008e1a39_0_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The 802.3 Frame Structure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b008e1a39_0_2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87" name="Google Shape;187;g3bb008e1a39_0_2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b008e1a39_0_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/>
              <a:t>IEEE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