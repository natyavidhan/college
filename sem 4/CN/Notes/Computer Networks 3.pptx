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Raleway"/>
      <p:regular r:id="rId31"/>
      <p:bold r:id="rId32"/>
      <p:italic r:id="rId33"/>
      <p:boldItalic r:id="rId34"/>
    </p:embeddedFont>
    <p:embeddedFont>
      <p:font typeface="Nunito"/>
      <p:regular r:id="rId35"/>
      <p:bold r:id="rId36"/>
      <p:italic r:id="rId37"/>
      <p:boldItalic r:id="rId38"/>
    </p:embeddedFont>
    <p:embeddedFont>
      <p:font typeface="Lat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3" roundtripDataSignature="AMtx7mgR8XL6tjU16qxSCYYpb4VWBqi9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6DCB670-B794-41FA-9D6C-3016EC5C60CC}">
  <a:tblStyle styleId="{06DCB670-B794-41FA-9D6C-3016EC5C60C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D40AE22-839D-4139-B4DC-467C8450E28B}"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fntdata"/><Relationship Id="rId20" Type="http://schemas.openxmlformats.org/officeDocument/2006/relationships/slide" Target="slides/slide14.xml"/><Relationship Id="rId42" Type="http://schemas.openxmlformats.org/officeDocument/2006/relationships/font" Target="fonts/Lato-boldItalic.fntdata"/><Relationship Id="rId41" Type="http://schemas.openxmlformats.org/officeDocument/2006/relationships/font" Target="fonts/Lato-italic.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aleway-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aleway-italic.fntdata"/><Relationship Id="rId10" Type="http://schemas.openxmlformats.org/officeDocument/2006/relationships/slide" Target="slides/slide4.xml"/><Relationship Id="rId32" Type="http://schemas.openxmlformats.org/officeDocument/2006/relationships/font" Target="fonts/Raleway-bold.fntdata"/><Relationship Id="rId13" Type="http://schemas.openxmlformats.org/officeDocument/2006/relationships/slide" Target="slides/slide7.xml"/><Relationship Id="rId35" Type="http://schemas.openxmlformats.org/officeDocument/2006/relationships/font" Target="fonts/Nunito-regular.fntdata"/><Relationship Id="rId12" Type="http://schemas.openxmlformats.org/officeDocument/2006/relationships/slide" Target="slides/slide6.xml"/><Relationship Id="rId34" Type="http://schemas.openxmlformats.org/officeDocument/2006/relationships/font" Target="fonts/Raleway-boldItalic.fntdata"/><Relationship Id="rId15" Type="http://schemas.openxmlformats.org/officeDocument/2006/relationships/slide" Target="slides/slide9.xml"/><Relationship Id="rId37" Type="http://schemas.openxmlformats.org/officeDocument/2006/relationships/font" Target="fonts/Nunito-italic.fntdata"/><Relationship Id="rId14" Type="http://schemas.openxmlformats.org/officeDocument/2006/relationships/slide" Target="slides/slide8.xml"/><Relationship Id="rId36" Type="http://schemas.openxmlformats.org/officeDocument/2006/relationships/font" Target="fonts/Nunito-bold.fntdata"/><Relationship Id="rId17" Type="http://schemas.openxmlformats.org/officeDocument/2006/relationships/slide" Target="slides/slide11.xml"/><Relationship Id="rId39" Type="http://schemas.openxmlformats.org/officeDocument/2006/relationships/font" Target="fonts/Lato-regular.fntdata"/><Relationship Id="rId16" Type="http://schemas.openxmlformats.org/officeDocument/2006/relationships/slide" Target="slides/slide10.xml"/><Relationship Id="rId38" Type="http://schemas.openxmlformats.org/officeDocument/2006/relationships/font" Target="fonts/Nunit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ce688656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3bce6886561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7205cde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c7205cde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c7205cde0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c7205cde0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c7205cde0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c7205cde0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7205cde0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c7205cde0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c7205cde0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c7205cde0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c7205cde0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c7205cde0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c7205cde0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c7205cde0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18"/>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18"/>
          <p:cNvGrpSpPr/>
          <p:nvPr/>
        </p:nvGrpSpPr>
        <p:grpSpPr>
          <a:xfrm>
            <a:off x="830392" y="1191256"/>
            <a:ext cx="745763" cy="45826"/>
            <a:chOff x="4580561" y="2589004"/>
            <a:chExt cx="1064464" cy="25200"/>
          </a:xfrm>
        </p:grpSpPr>
        <p:sp>
          <p:nvSpPr>
            <p:cNvPr id="12" name="Google Shape;12;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18"/>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18"/>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1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19"/>
          <p:cNvGrpSpPr/>
          <p:nvPr/>
        </p:nvGrpSpPr>
        <p:grpSpPr>
          <a:xfrm>
            <a:off x="830392" y="1191256"/>
            <a:ext cx="745763" cy="45826"/>
            <a:chOff x="4580561" y="2589004"/>
            <a:chExt cx="1064464" cy="25200"/>
          </a:xfrm>
        </p:grpSpPr>
        <p:sp>
          <p:nvSpPr>
            <p:cNvPr id="20" name="Google Shape;20;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1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1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1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 name="Shape 25"/>
        <p:cNvGrpSpPr/>
        <p:nvPr/>
      </p:nvGrpSpPr>
      <p:grpSpPr>
        <a:xfrm>
          <a:off x="0" y="0"/>
          <a:ext cx="0" cy="0"/>
          <a:chOff x="0" y="0"/>
          <a:chExt cx="0" cy="0"/>
        </a:xfrm>
      </p:grpSpPr>
      <p:sp>
        <p:nvSpPr>
          <p:cNvPr id="26" name="Google Shape;26;p2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20"/>
          <p:cNvGrpSpPr/>
          <p:nvPr/>
        </p:nvGrpSpPr>
        <p:grpSpPr>
          <a:xfrm>
            <a:off x="830392" y="1191256"/>
            <a:ext cx="745763" cy="45826"/>
            <a:chOff x="4580561" y="2589004"/>
            <a:chExt cx="1064464" cy="25200"/>
          </a:xfrm>
        </p:grpSpPr>
        <p:sp>
          <p:nvSpPr>
            <p:cNvPr id="28" name="Google Shape;28;p2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20"/>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1" name="Google Shape;31;p20"/>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2" name="Google Shape;32;p2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3" name="Shape 33"/>
        <p:cNvGrpSpPr/>
        <p:nvPr/>
      </p:nvGrpSpPr>
      <p:grpSpPr>
        <a:xfrm>
          <a:off x="0" y="0"/>
          <a:ext cx="0" cy="0"/>
          <a:chOff x="0" y="0"/>
          <a:chExt cx="0" cy="0"/>
        </a:xfrm>
      </p:grpSpPr>
      <p:grpSp>
        <p:nvGrpSpPr>
          <p:cNvPr id="34" name="Google Shape;34;p21"/>
          <p:cNvGrpSpPr/>
          <p:nvPr/>
        </p:nvGrpSpPr>
        <p:grpSpPr>
          <a:xfrm>
            <a:off x="830392" y="1191256"/>
            <a:ext cx="745763" cy="45826"/>
            <a:chOff x="4580561" y="2589004"/>
            <a:chExt cx="1064464" cy="25200"/>
          </a:xfrm>
        </p:grpSpPr>
        <p:sp>
          <p:nvSpPr>
            <p:cNvPr id="35" name="Google Shape;35;p2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21"/>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8" name="Google Shape;38;p2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2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 name="Google Shape;41;p22"/>
          <p:cNvGrpSpPr/>
          <p:nvPr/>
        </p:nvGrpSpPr>
        <p:grpSpPr>
          <a:xfrm>
            <a:off x="830392" y="1191256"/>
            <a:ext cx="745763" cy="45826"/>
            <a:chOff x="4580561" y="2589004"/>
            <a:chExt cx="1064464" cy="25200"/>
          </a:xfrm>
        </p:grpSpPr>
        <p:sp>
          <p:nvSpPr>
            <p:cNvPr id="42" name="Google Shape;42;p2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 name="Google Shape;44;p22"/>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5" name="Google Shape;45;p22"/>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6" name="Google Shape;46;p22"/>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2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2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0" name="Google Shape;50;p23"/>
          <p:cNvGrpSpPr/>
          <p:nvPr/>
        </p:nvGrpSpPr>
        <p:grpSpPr>
          <a:xfrm>
            <a:off x="830392" y="1191256"/>
            <a:ext cx="745763" cy="45826"/>
            <a:chOff x="4580561" y="2589004"/>
            <a:chExt cx="1064464" cy="25200"/>
          </a:xfrm>
        </p:grpSpPr>
        <p:sp>
          <p:nvSpPr>
            <p:cNvPr id="51" name="Google Shape;51;p2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 name="Google Shape;53;p23"/>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4" name="Google Shape;54;p2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24"/>
          <p:cNvGrpSpPr/>
          <p:nvPr/>
        </p:nvGrpSpPr>
        <p:grpSpPr>
          <a:xfrm>
            <a:off x="830392" y="4169130"/>
            <a:ext cx="745763" cy="45826"/>
            <a:chOff x="4580561" y="2589004"/>
            <a:chExt cx="1064464" cy="25200"/>
          </a:xfrm>
        </p:grpSpPr>
        <p:sp>
          <p:nvSpPr>
            <p:cNvPr id="57" name="Google Shape;57;p2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24"/>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2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25"/>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25"/>
          <p:cNvGrpSpPr/>
          <p:nvPr/>
        </p:nvGrpSpPr>
        <p:grpSpPr>
          <a:xfrm>
            <a:off x="830392" y="1191256"/>
            <a:ext cx="745763" cy="45826"/>
            <a:chOff x="4580561" y="2589004"/>
            <a:chExt cx="1064464" cy="25200"/>
          </a:xfrm>
        </p:grpSpPr>
        <p:sp>
          <p:nvSpPr>
            <p:cNvPr id="64" name="Google Shape;64;p2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25"/>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25"/>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25"/>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2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26"/>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2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27"/>
          <p:cNvGrpSpPr/>
          <p:nvPr/>
        </p:nvGrpSpPr>
        <p:grpSpPr>
          <a:xfrm>
            <a:off x="830392" y="4169130"/>
            <a:ext cx="745763" cy="45826"/>
            <a:chOff x="4580561" y="2589004"/>
            <a:chExt cx="1064464" cy="25200"/>
          </a:xfrm>
        </p:grpSpPr>
        <p:sp>
          <p:nvSpPr>
            <p:cNvPr id="75" name="Google Shape;75;p2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27"/>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27"/>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2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2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1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n"/>
              <a:t>Computer Networks</a:t>
            </a:r>
            <a:endParaRPr/>
          </a:p>
        </p:txBody>
      </p:sp>
      <p:sp>
        <p:nvSpPr>
          <p:cNvPr id="87" name="Google Shape;87;p1"/>
          <p:cNvSpPr txBox="1"/>
          <p:nvPr>
            <p:ph idx="1" type="subTitle"/>
          </p:nvPr>
        </p:nvSpPr>
        <p:spPr>
          <a:xfrm>
            <a:off x="677600" y="3069750"/>
            <a:ext cx="7688100" cy="770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n"/>
              <a:t>PPT-3 Error Detection and Correction</a:t>
            </a:r>
            <a:endParaRPr/>
          </a:p>
        </p:txBody>
      </p:sp>
      <p:sp>
        <p:nvSpPr>
          <p:cNvPr id="88" name="Google Shape;88;p1"/>
          <p:cNvSpPr txBox="1"/>
          <p:nvPr>
            <p:ph idx="1" type="subTitle"/>
          </p:nvPr>
        </p:nvSpPr>
        <p:spPr>
          <a:xfrm>
            <a:off x="844875" y="4068575"/>
            <a:ext cx="7688100" cy="7032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r">
              <a:lnSpc>
                <a:spcPct val="100000"/>
              </a:lnSpc>
              <a:spcBef>
                <a:spcPts val="0"/>
              </a:spcBef>
              <a:spcAft>
                <a:spcPts val="0"/>
              </a:spcAft>
              <a:buSzPct val="117647"/>
              <a:buNone/>
            </a:pPr>
            <a:r>
              <a:rPr b="1" lang="en"/>
              <a:t>Anand</a:t>
            </a:r>
            <a:endParaRPr b="1"/>
          </a:p>
          <a:p>
            <a:pPr indent="0" lvl="0" marL="0" rtl="0" algn="r">
              <a:lnSpc>
                <a:spcPct val="100000"/>
              </a:lnSpc>
              <a:spcBef>
                <a:spcPts val="0"/>
              </a:spcBef>
              <a:spcAft>
                <a:spcPts val="0"/>
              </a:spcAft>
              <a:buSzPct val="117647"/>
              <a:buNone/>
            </a:pPr>
            <a:r>
              <a:rPr lang="en"/>
              <a:t>Department of Computer Science</a:t>
            </a:r>
            <a:endParaRPr/>
          </a:p>
          <a:p>
            <a:pPr indent="0" lvl="0" marL="0" rtl="0" algn="r">
              <a:lnSpc>
                <a:spcPct val="100000"/>
              </a:lnSpc>
              <a:spcBef>
                <a:spcPts val="0"/>
              </a:spcBef>
              <a:spcAft>
                <a:spcPts val="0"/>
              </a:spcAft>
              <a:buSzPct val="117647"/>
              <a:buNone/>
            </a:pPr>
            <a:r>
              <a:rPr lang="en"/>
              <a:t>Keshav Mahavidyalaya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Error Detection &amp; Correction</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p:txBody>
      </p:sp>
      <p:sp>
        <p:nvSpPr>
          <p:cNvPr id="94" name="Google Shape;94;p2"/>
          <p:cNvSpPr txBox="1"/>
          <p:nvPr>
            <p:ph idx="1" type="body"/>
          </p:nvPr>
        </p:nvSpPr>
        <p:spPr>
          <a:xfrm>
            <a:off x="729450" y="2078875"/>
            <a:ext cx="4222200" cy="22611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0"/>
              </a:spcBef>
              <a:spcAft>
                <a:spcPts val="0"/>
              </a:spcAft>
              <a:buSzPts val="1300"/>
              <a:buNone/>
            </a:pPr>
            <a:r>
              <a:rPr lang="en"/>
              <a:t>Error detection in computer networks is a process of identifying errors that may occur during the transmission of data between devices in a network. These errors can be caused by various factors, such as noise, interference, </a:t>
            </a:r>
            <a:r>
              <a:rPr b="1" lang="en"/>
              <a:t>signal attenuation*</a:t>
            </a:r>
            <a:r>
              <a:rPr lang="en"/>
              <a:t>, or hardware failures. The primary goal of error detection mechanisms is to ensure the integrity of the transmitted data and, if possible, to correct any errors that occur.</a:t>
            </a:r>
            <a:endParaRPr/>
          </a:p>
          <a:p>
            <a:pPr indent="0" lvl="0" marL="0" rtl="0" algn="l">
              <a:lnSpc>
                <a:spcPct val="115000"/>
              </a:lnSpc>
              <a:spcBef>
                <a:spcPts val="1200"/>
              </a:spcBef>
              <a:spcAft>
                <a:spcPts val="1200"/>
              </a:spcAft>
              <a:buSzPts val="1300"/>
              <a:buNone/>
            </a:pPr>
            <a:r>
              <a:rPr i="1" lang="en" sz="1050">
                <a:solidFill>
                  <a:srgbClr val="1B1B1F"/>
                </a:solidFill>
                <a:highlight>
                  <a:srgbClr val="FFFFFF"/>
                </a:highlight>
                <a:latin typeface="Arial"/>
                <a:ea typeface="Arial"/>
                <a:cs typeface="Arial"/>
                <a:sym typeface="Arial"/>
              </a:rPr>
              <a:t>*Signal attenuation is the loss of signal strength as it travels through a medium or system</a:t>
            </a:r>
            <a:endParaRPr i="1"/>
          </a:p>
        </p:txBody>
      </p:sp>
      <p:pic>
        <p:nvPicPr>
          <p:cNvPr id="95" name="Google Shape;95;p2"/>
          <p:cNvPicPr preferRelativeResize="0"/>
          <p:nvPr/>
        </p:nvPicPr>
        <p:blipFill rotWithShape="1">
          <a:blip r:embed="rId3">
            <a:alphaModFix/>
          </a:blip>
          <a:srcRect b="24955" l="5687" r="4610" t="25114"/>
          <a:stretch/>
        </p:blipFill>
        <p:spPr>
          <a:xfrm>
            <a:off x="5099950" y="2190300"/>
            <a:ext cx="3318200" cy="1846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Types of Network Errors</a:t>
            </a:r>
            <a:endParaRPr/>
          </a:p>
        </p:txBody>
      </p:sp>
      <p:pic>
        <p:nvPicPr>
          <p:cNvPr id="101" name="Google Shape;101;p3"/>
          <p:cNvPicPr preferRelativeResize="0"/>
          <p:nvPr/>
        </p:nvPicPr>
        <p:blipFill rotWithShape="1">
          <a:blip r:embed="rId3">
            <a:alphaModFix/>
          </a:blip>
          <a:srcRect b="0" l="0" r="0" t="0"/>
          <a:stretch/>
        </p:blipFill>
        <p:spPr>
          <a:xfrm>
            <a:off x="5122275" y="819850"/>
            <a:ext cx="3587675" cy="1211075"/>
          </a:xfrm>
          <a:prstGeom prst="rect">
            <a:avLst/>
          </a:prstGeom>
          <a:noFill/>
          <a:ln>
            <a:noFill/>
          </a:ln>
        </p:spPr>
      </p:pic>
      <p:pic>
        <p:nvPicPr>
          <p:cNvPr id="102" name="Google Shape;102;p3"/>
          <p:cNvPicPr preferRelativeResize="0"/>
          <p:nvPr/>
        </p:nvPicPr>
        <p:blipFill rotWithShape="1">
          <a:blip r:embed="rId4">
            <a:alphaModFix/>
          </a:blip>
          <a:srcRect b="0" l="0" r="0" t="0"/>
          <a:stretch/>
        </p:blipFill>
        <p:spPr>
          <a:xfrm>
            <a:off x="5122275" y="2132675"/>
            <a:ext cx="3696175" cy="1018700"/>
          </a:xfrm>
          <a:prstGeom prst="rect">
            <a:avLst/>
          </a:prstGeom>
          <a:noFill/>
          <a:ln>
            <a:noFill/>
          </a:ln>
        </p:spPr>
      </p:pic>
      <p:pic>
        <p:nvPicPr>
          <p:cNvPr id="103" name="Google Shape;103;p3"/>
          <p:cNvPicPr preferRelativeResize="0"/>
          <p:nvPr/>
        </p:nvPicPr>
        <p:blipFill rotWithShape="1">
          <a:blip r:embed="rId5">
            <a:alphaModFix/>
          </a:blip>
          <a:srcRect b="0" l="0" r="0" t="0"/>
          <a:stretch/>
        </p:blipFill>
        <p:spPr>
          <a:xfrm>
            <a:off x="5122275" y="3430200"/>
            <a:ext cx="3625725" cy="1409475"/>
          </a:xfrm>
          <a:prstGeom prst="rect">
            <a:avLst/>
          </a:prstGeom>
          <a:noFill/>
          <a:ln>
            <a:noFill/>
          </a:ln>
        </p:spPr>
      </p:pic>
      <p:sp>
        <p:nvSpPr>
          <p:cNvPr id="104" name="Google Shape;104;p3"/>
          <p:cNvSpPr txBox="1"/>
          <p:nvPr/>
        </p:nvSpPr>
        <p:spPr>
          <a:xfrm>
            <a:off x="781300" y="1982175"/>
            <a:ext cx="3834000" cy="28212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00000"/>
              </a:lnSpc>
              <a:spcBef>
                <a:spcPts val="0"/>
              </a:spcBef>
              <a:spcAft>
                <a:spcPts val="0"/>
              </a:spcAft>
              <a:buClr>
                <a:srgbClr val="FF0000"/>
              </a:buClr>
              <a:buSzPts val="1300"/>
              <a:buFont typeface="Lato"/>
              <a:buChar char="●"/>
            </a:pPr>
            <a:r>
              <a:rPr b="1" i="0" lang="en" sz="1100" u="none" cap="none" strike="noStrike">
                <a:solidFill>
                  <a:srgbClr val="0000FF"/>
                </a:solidFill>
                <a:latin typeface="Arial"/>
                <a:ea typeface="Arial"/>
                <a:cs typeface="Arial"/>
                <a:sym typeface="Arial"/>
              </a:rPr>
              <a:t>Single Bit Error</a:t>
            </a:r>
            <a:endParaRPr b="1" i="0" sz="1100" u="none" cap="none" strike="noStrike">
              <a:solidFill>
                <a:srgbClr val="0000FF"/>
              </a:solidFill>
              <a:latin typeface="Arial"/>
              <a:ea typeface="Arial"/>
              <a:cs typeface="Arial"/>
              <a:sym typeface="Arial"/>
            </a:endParaRPr>
          </a:p>
          <a:p>
            <a:pPr indent="-311150" lvl="0" marL="457200" marR="0" rtl="0" algn="l">
              <a:lnSpc>
                <a:spcPct val="100000"/>
              </a:lnSpc>
              <a:spcBef>
                <a:spcPts val="0"/>
              </a:spcBef>
              <a:spcAft>
                <a:spcPts val="0"/>
              </a:spcAft>
              <a:buClr>
                <a:srgbClr val="FF0000"/>
              </a:buClr>
              <a:buSzPts val="1300"/>
              <a:buFont typeface="Lato"/>
              <a:buChar char="●"/>
            </a:pPr>
            <a:r>
              <a:rPr b="1" i="0" lang="en" sz="1100" u="none" cap="none" strike="noStrike">
                <a:solidFill>
                  <a:srgbClr val="0000FF"/>
                </a:solidFill>
                <a:latin typeface="Arial"/>
                <a:ea typeface="Arial"/>
                <a:cs typeface="Arial"/>
                <a:sym typeface="Arial"/>
              </a:rPr>
              <a:t>Multiple Bit Error</a:t>
            </a:r>
            <a:endParaRPr b="1" i="0" sz="1100" u="none" cap="none" strike="noStrike">
              <a:solidFill>
                <a:srgbClr val="0000FF"/>
              </a:solidFill>
              <a:latin typeface="Arial"/>
              <a:ea typeface="Arial"/>
              <a:cs typeface="Arial"/>
              <a:sym typeface="Arial"/>
            </a:endParaRPr>
          </a:p>
          <a:p>
            <a:pPr indent="-311150" lvl="0" marL="457200" marR="0" rtl="0" algn="l">
              <a:lnSpc>
                <a:spcPct val="100000"/>
              </a:lnSpc>
              <a:spcBef>
                <a:spcPts val="0"/>
              </a:spcBef>
              <a:spcAft>
                <a:spcPts val="0"/>
              </a:spcAft>
              <a:buClr>
                <a:srgbClr val="FF0000"/>
              </a:buClr>
              <a:buSzPts val="1300"/>
              <a:buFont typeface="Lato"/>
              <a:buChar char="●"/>
            </a:pPr>
            <a:r>
              <a:rPr b="1" i="0" lang="en" sz="1100" u="none" cap="none" strike="noStrike">
                <a:solidFill>
                  <a:srgbClr val="0000FF"/>
                </a:solidFill>
                <a:latin typeface="Arial"/>
                <a:ea typeface="Arial"/>
                <a:cs typeface="Arial"/>
                <a:sym typeface="Arial"/>
              </a:rPr>
              <a:t>Burst Error</a:t>
            </a:r>
            <a:endParaRPr b="1" i="0" sz="1100" u="none" cap="none" strike="noStrike">
              <a:solidFill>
                <a:srgbClr val="0000FF"/>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Arial"/>
              <a:ea typeface="Arial"/>
              <a:cs typeface="Arial"/>
              <a:sym typeface="Arial"/>
            </a:endParaRPr>
          </a:p>
          <a:p>
            <a:pPr indent="-311150" lvl="0" marL="457200" marR="0" rtl="0" algn="l">
              <a:lnSpc>
                <a:spcPct val="100000"/>
              </a:lnSpc>
              <a:spcBef>
                <a:spcPts val="0"/>
              </a:spcBef>
              <a:spcAft>
                <a:spcPts val="0"/>
              </a:spcAft>
              <a:buClr>
                <a:schemeClr val="accent1"/>
              </a:buClr>
              <a:buSzPts val="1300"/>
              <a:buFont typeface="Lato"/>
              <a:buChar char="●"/>
            </a:pPr>
            <a:r>
              <a:rPr b="1" i="0" lang="en" sz="1100" u="none" cap="none" strike="noStrike">
                <a:solidFill>
                  <a:srgbClr val="000000"/>
                </a:solidFill>
                <a:latin typeface="Arial"/>
                <a:ea typeface="Arial"/>
                <a:cs typeface="Arial"/>
                <a:sym typeface="Arial"/>
              </a:rPr>
              <a:t>Cable or Connection Faults</a:t>
            </a:r>
            <a:endParaRPr b="1" i="0" sz="1100" u="none" cap="none" strike="noStrike">
              <a:solidFill>
                <a:srgbClr val="000000"/>
              </a:solidFill>
              <a:latin typeface="Arial"/>
              <a:ea typeface="Arial"/>
              <a:cs typeface="Arial"/>
              <a:sym typeface="Arial"/>
            </a:endParaRPr>
          </a:p>
          <a:p>
            <a:pPr indent="-311150" lvl="0" marL="457200" marR="0" rtl="0" algn="l">
              <a:lnSpc>
                <a:spcPct val="100000"/>
              </a:lnSpc>
              <a:spcBef>
                <a:spcPts val="0"/>
              </a:spcBef>
              <a:spcAft>
                <a:spcPts val="0"/>
              </a:spcAft>
              <a:buClr>
                <a:schemeClr val="accent1"/>
              </a:buClr>
              <a:buSzPts val="1300"/>
              <a:buFont typeface="Lato"/>
              <a:buChar char="●"/>
            </a:pPr>
            <a:r>
              <a:rPr b="1" i="0" lang="en" sz="1100" u="none" cap="none" strike="noStrike">
                <a:solidFill>
                  <a:srgbClr val="000000"/>
                </a:solidFill>
                <a:latin typeface="Arial"/>
                <a:ea typeface="Arial"/>
                <a:cs typeface="Arial"/>
                <a:sym typeface="Arial"/>
              </a:rPr>
              <a:t>Faulty Network Interface Cards (NICs)</a:t>
            </a:r>
            <a:endParaRPr b="1" i="0" sz="1100" u="none" cap="none" strike="noStrike">
              <a:solidFill>
                <a:srgbClr val="000000"/>
              </a:solidFill>
              <a:latin typeface="Arial"/>
              <a:ea typeface="Arial"/>
              <a:cs typeface="Arial"/>
              <a:sym typeface="Arial"/>
            </a:endParaRPr>
          </a:p>
          <a:p>
            <a:pPr indent="-311150" lvl="0" marL="457200" marR="0" rtl="0" algn="l">
              <a:lnSpc>
                <a:spcPct val="100000"/>
              </a:lnSpc>
              <a:spcBef>
                <a:spcPts val="0"/>
              </a:spcBef>
              <a:spcAft>
                <a:spcPts val="0"/>
              </a:spcAft>
              <a:buClr>
                <a:schemeClr val="accent1"/>
              </a:buClr>
              <a:buSzPts val="1300"/>
              <a:buFont typeface="Lato"/>
              <a:buChar char="●"/>
            </a:pPr>
            <a:r>
              <a:rPr b="1" i="0" lang="en" sz="1100" u="none" cap="none" strike="noStrike">
                <a:solidFill>
                  <a:srgbClr val="000000"/>
                </a:solidFill>
                <a:latin typeface="Arial"/>
                <a:ea typeface="Arial"/>
                <a:cs typeface="Arial"/>
                <a:sym typeface="Arial"/>
              </a:rPr>
              <a:t>Router or Switch Failures</a:t>
            </a:r>
            <a:endParaRPr b="1" i="0" sz="1100" u="none" cap="none" strike="noStrike">
              <a:solidFill>
                <a:srgbClr val="000000"/>
              </a:solidFill>
              <a:latin typeface="Arial"/>
              <a:ea typeface="Arial"/>
              <a:cs typeface="Arial"/>
              <a:sym typeface="Arial"/>
            </a:endParaRPr>
          </a:p>
          <a:p>
            <a:pPr indent="-311150" lvl="0" marL="457200" marR="0" rtl="0" algn="l">
              <a:lnSpc>
                <a:spcPct val="100000"/>
              </a:lnSpc>
              <a:spcBef>
                <a:spcPts val="0"/>
              </a:spcBef>
              <a:spcAft>
                <a:spcPts val="0"/>
              </a:spcAft>
              <a:buClr>
                <a:schemeClr val="accent1"/>
              </a:buClr>
              <a:buSzPts val="1300"/>
              <a:buFont typeface="Lato"/>
              <a:buChar char="●"/>
            </a:pPr>
            <a:r>
              <a:rPr b="1" i="0" lang="en" sz="1100" u="none" cap="none" strike="noStrike">
                <a:solidFill>
                  <a:srgbClr val="000000"/>
                </a:solidFill>
                <a:latin typeface="Arial"/>
                <a:ea typeface="Arial"/>
                <a:cs typeface="Arial"/>
                <a:sym typeface="Arial"/>
              </a:rPr>
              <a:t>Damaged or Faulty Wireless Access Points</a:t>
            </a:r>
            <a:endParaRPr b="1" i="0" sz="1100" u="none" cap="none" strike="noStrike">
              <a:solidFill>
                <a:srgbClr val="000000"/>
              </a:solidFill>
              <a:latin typeface="Arial"/>
              <a:ea typeface="Arial"/>
              <a:cs typeface="Arial"/>
              <a:sym typeface="Arial"/>
            </a:endParaRPr>
          </a:p>
          <a:p>
            <a:pPr indent="-311150" lvl="0" marL="457200" marR="0" rtl="0" algn="l">
              <a:lnSpc>
                <a:spcPct val="100000"/>
              </a:lnSpc>
              <a:spcBef>
                <a:spcPts val="0"/>
              </a:spcBef>
              <a:spcAft>
                <a:spcPts val="0"/>
              </a:spcAft>
              <a:buClr>
                <a:schemeClr val="accent1"/>
              </a:buClr>
              <a:buSzPts val="1300"/>
              <a:buFont typeface="Lato"/>
              <a:buChar char="●"/>
            </a:pPr>
            <a:r>
              <a:rPr b="1" i="0" lang="en" sz="1100" u="none" cap="none" strike="noStrike">
                <a:solidFill>
                  <a:srgbClr val="000000"/>
                </a:solidFill>
                <a:latin typeface="Arial"/>
                <a:ea typeface="Arial"/>
                <a:cs typeface="Arial"/>
                <a:sym typeface="Arial"/>
              </a:rPr>
              <a:t>Power Supply Issues</a:t>
            </a:r>
            <a:endParaRPr b="1" i="0" sz="1100" u="none" cap="none" strike="noStrike">
              <a:solidFill>
                <a:srgbClr val="000000"/>
              </a:solidFill>
              <a:latin typeface="Arial"/>
              <a:ea typeface="Arial"/>
              <a:cs typeface="Arial"/>
              <a:sym typeface="Arial"/>
            </a:endParaRPr>
          </a:p>
          <a:p>
            <a:pPr indent="-311150" lvl="0" marL="457200" marR="0" rtl="0" algn="l">
              <a:lnSpc>
                <a:spcPct val="100000"/>
              </a:lnSpc>
              <a:spcBef>
                <a:spcPts val="0"/>
              </a:spcBef>
              <a:spcAft>
                <a:spcPts val="0"/>
              </a:spcAft>
              <a:buClr>
                <a:schemeClr val="accent1"/>
              </a:buClr>
              <a:buSzPts val="1300"/>
              <a:buFont typeface="Lato"/>
              <a:buChar char="●"/>
            </a:pPr>
            <a:r>
              <a:rPr b="1" i="0" lang="en" sz="1100" u="none" cap="none" strike="noStrike">
                <a:solidFill>
                  <a:srgbClr val="000000"/>
                </a:solidFill>
                <a:latin typeface="Arial"/>
                <a:ea typeface="Arial"/>
                <a:cs typeface="Arial"/>
                <a:sym typeface="Arial"/>
              </a:rPr>
              <a:t>Signal Interference (Wireless Networks)</a:t>
            </a:r>
            <a:endParaRPr b="1" i="0" sz="1100" u="none" cap="none" strike="noStrike">
              <a:solidFill>
                <a:srgbClr val="000000"/>
              </a:solidFill>
              <a:latin typeface="Arial"/>
              <a:ea typeface="Arial"/>
              <a:cs typeface="Arial"/>
              <a:sym typeface="Arial"/>
            </a:endParaRPr>
          </a:p>
          <a:p>
            <a:pPr indent="-311150" lvl="0" marL="457200" marR="0" rtl="0" algn="l">
              <a:lnSpc>
                <a:spcPct val="100000"/>
              </a:lnSpc>
              <a:spcBef>
                <a:spcPts val="0"/>
              </a:spcBef>
              <a:spcAft>
                <a:spcPts val="0"/>
              </a:spcAft>
              <a:buClr>
                <a:schemeClr val="accent1"/>
              </a:buClr>
              <a:buSzPts val="1300"/>
              <a:buFont typeface="Lato"/>
              <a:buChar char="●"/>
            </a:pPr>
            <a:r>
              <a:rPr b="1" i="0" lang="en" sz="1100" u="none" cap="none" strike="noStrike">
                <a:solidFill>
                  <a:srgbClr val="000000"/>
                </a:solidFill>
                <a:latin typeface="Arial"/>
                <a:ea typeface="Arial"/>
                <a:cs typeface="Arial"/>
                <a:sym typeface="Arial"/>
              </a:rPr>
              <a:t>Overheating of Network Devices</a:t>
            </a:r>
            <a:endParaRPr b="1" i="0" sz="1100" u="none" cap="none" strike="noStrike">
              <a:solidFill>
                <a:srgbClr val="000000"/>
              </a:solidFill>
              <a:latin typeface="Arial"/>
              <a:ea typeface="Arial"/>
              <a:cs typeface="Arial"/>
              <a:sym typeface="Arial"/>
            </a:endParaRPr>
          </a:p>
          <a:p>
            <a:pPr indent="-311150" lvl="0" marL="457200" marR="0" rtl="0" algn="l">
              <a:lnSpc>
                <a:spcPct val="100000"/>
              </a:lnSpc>
              <a:spcBef>
                <a:spcPts val="0"/>
              </a:spcBef>
              <a:spcAft>
                <a:spcPts val="0"/>
              </a:spcAft>
              <a:buClr>
                <a:schemeClr val="accent1"/>
              </a:buClr>
              <a:buSzPts val="1300"/>
              <a:buFont typeface="Lato"/>
              <a:buChar char="●"/>
            </a:pPr>
            <a:r>
              <a:rPr b="1" i="0" lang="en" sz="1100" u="none" cap="none" strike="noStrike">
                <a:solidFill>
                  <a:srgbClr val="000000"/>
                </a:solidFill>
                <a:latin typeface="Arial"/>
                <a:ea typeface="Arial"/>
                <a:cs typeface="Arial"/>
                <a:sym typeface="Arial"/>
              </a:rPr>
              <a:t>Broken Ports or Connectors</a:t>
            </a:r>
            <a:endParaRPr b="1" i="0" sz="1100" u="none" cap="none" strike="noStrike">
              <a:solidFill>
                <a:srgbClr val="000000"/>
              </a:solidFill>
              <a:latin typeface="Arial"/>
              <a:ea typeface="Arial"/>
              <a:cs typeface="Arial"/>
              <a:sym typeface="Arial"/>
            </a:endParaRPr>
          </a:p>
          <a:p>
            <a:pPr indent="-311150" lvl="0" marL="457200" marR="0" rtl="0" algn="l">
              <a:lnSpc>
                <a:spcPct val="100000"/>
              </a:lnSpc>
              <a:spcBef>
                <a:spcPts val="0"/>
              </a:spcBef>
              <a:spcAft>
                <a:spcPts val="0"/>
              </a:spcAft>
              <a:buClr>
                <a:schemeClr val="accent1"/>
              </a:buClr>
              <a:buSzPts val="1300"/>
              <a:buFont typeface="Lato"/>
              <a:buChar char="●"/>
            </a:pPr>
            <a:r>
              <a:rPr b="1" i="0" lang="en" sz="1100" u="none" cap="none" strike="noStrike">
                <a:solidFill>
                  <a:srgbClr val="000000"/>
                </a:solidFill>
                <a:latin typeface="Arial"/>
                <a:ea typeface="Arial"/>
                <a:cs typeface="Arial"/>
                <a:sym typeface="Arial"/>
              </a:rPr>
              <a:t>Hardware Incompatibility</a:t>
            </a:r>
            <a:endParaRPr b="1" i="0" sz="1100" u="none" cap="none" strike="noStrike">
              <a:solidFill>
                <a:srgbClr val="000000"/>
              </a:solidFill>
              <a:latin typeface="Arial"/>
              <a:ea typeface="Arial"/>
              <a:cs typeface="Arial"/>
              <a:sym typeface="Arial"/>
            </a:endParaRPr>
          </a:p>
          <a:p>
            <a:pPr indent="-311150" lvl="0" marL="457200" marR="0" rtl="0" algn="l">
              <a:lnSpc>
                <a:spcPct val="100000"/>
              </a:lnSpc>
              <a:spcBef>
                <a:spcPts val="0"/>
              </a:spcBef>
              <a:spcAft>
                <a:spcPts val="0"/>
              </a:spcAft>
              <a:buClr>
                <a:schemeClr val="accent1"/>
              </a:buClr>
              <a:buSzPts val="1300"/>
              <a:buFont typeface="Lato"/>
              <a:buChar char="●"/>
            </a:pPr>
            <a:r>
              <a:rPr b="1" i="0" lang="en" sz="1100" u="none" cap="none" strike="noStrike">
                <a:solidFill>
                  <a:srgbClr val="000000"/>
                </a:solidFill>
                <a:latin typeface="Arial"/>
                <a:ea typeface="Arial"/>
                <a:cs typeface="Arial"/>
                <a:sym typeface="Arial"/>
              </a:rPr>
              <a:t>Firmware or Hardware Configuration Issues</a:t>
            </a:r>
            <a:endParaRPr b="0" i="0" sz="1300" u="none" cap="none" strike="noStrike">
              <a:solidFill>
                <a:schemeClr val="accen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Methods for Error Detection</a:t>
            </a:r>
            <a:endParaRPr/>
          </a:p>
        </p:txBody>
      </p:sp>
      <p:sp>
        <p:nvSpPr>
          <p:cNvPr id="110" name="Google Shape;110;p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AutoNum type="arabicPeriod"/>
            </a:pPr>
            <a:r>
              <a:rPr lang="en"/>
              <a:t>Parity / VRC</a:t>
            </a:r>
            <a:endParaRPr/>
          </a:p>
          <a:p>
            <a:pPr indent="-311150" lvl="0" marL="457200" rtl="0" algn="l">
              <a:lnSpc>
                <a:spcPct val="115000"/>
              </a:lnSpc>
              <a:spcBef>
                <a:spcPts val="0"/>
              </a:spcBef>
              <a:spcAft>
                <a:spcPts val="0"/>
              </a:spcAft>
              <a:buSzPts val="1300"/>
              <a:buAutoNum type="arabicPeriod"/>
            </a:pPr>
            <a:r>
              <a:rPr lang="en"/>
              <a:t>2d Parity /LRC</a:t>
            </a:r>
            <a:endParaRPr/>
          </a:p>
          <a:p>
            <a:pPr indent="-311150" lvl="0" marL="457200" rtl="0" algn="l">
              <a:lnSpc>
                <a:spcPct val="115000"/>
              </a:lnSpc>
              <a:spcBef>
                <a:spcPts val="0"/>
              </a:spcBef>
              <a:spcAft>
                <a:spcPts val="0"/>
              </a:spcAft>
              <a:buSzPts val="1300"/>
              <a:buAutoNum type="arabicPeriod"/>
            </a:pPr>
            <a:r>
              <a:rPr lang="en"/>
              <a:t>Checksum</a:t>
            </a:r>
            <a:endParaRPr/>
          </a:p>
          <a:p>
            <a:pPr indent="-311150" lvl="0" marL="457200" rtl="0" algn="l">
              <a:lnSpc>
                <a:spcPct val="115000"/>
              </a:lnSpc>
              <a:spcBef>
                <a:spcPts val="0"/>
              </a:spcBef>
              <a:spcAft>
                <a:spcPts val="0"/>
              </a:spcAft>
              <a:buSzPts val="1300"/>
              <a:buAutoNum type="arabicPeriod"/>
            </a:pPr>
            <a:r>
              <a:rPr lang="en"/>
              <a:t>Cyclic Redundancy Check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Parity /VRC</a:t>
            </a:r>
            <a:endParaRPr/>
          </a:p>
        </p:txBody>
      </p:sp>
      <p:pic>
        <p:nvPicPr>
          <p:cNvPr id="116" name="Google Shape;116;p5"/>
          <p:cNvPicPr preferRelativeResize="0"/>
          <p:nvPr/>
        </p:nvPicPr>
        <p:blipFill rotWithShape="1">
          <a:blip r:embed="rId3">
            <a:alphaModFix/>
          </a:blip>
          <a:srcRect b="0" l="0" r="0" t="0"/>
          <a:stretch/>
        </p:blipFill>
        <p:spPr>
          <a:xfrm>
            <a:off x="3561475" y="1713762"/>
            <a:ext cx="5458400" cy="2807675"/>
          </a:xfrm>
          <a:prstGeom prst="rect">
            <a:avLst/>
          </a:prstGeom>
          <a:noFill/>
          <a:ln>
            <a:noFill/>
          </a:ln>
        </p:spPr>
      </p:pic>
      <p:sp>
        <p:nvSpPr>
          <p:cNvPr id="117" name="Google Shape;117;p5"/>
          <p:cNvSpPr txBox="1"/>
          <p:nvPr/>
        </p:nvSpPr>
        <p:spPr>
          <a:xfrm>
            <a:off x="729450" y="2234850"/>
            <a:ext cx="3192300" cy="17655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15000"/>
              </a:lnSpc>
              <a:spcBef>
                <a:spcPts val="0"/>
              </a:spcBef>
              <a:spcAft>
                <a:spcPts val="0"/>
              </a:spcAft>
              <a:buClr>
                <a:schemeClr val="accent3"/>
              </a:buClr>
              <a:buSzPts val="1300"/>
              <a:buFont typeface="Lato"/>
              <a:buChar char="●"/>
            </a:pPr>
            <a:r>
              <a:rPr b="0" i="0" lang="en" sz="1300" u="none" cap="none" strike="noStrike">
                <a:solidFill>
                  <a:schemeClr val="accent1"/>
                </a:solidFill>
                <a:latin typeface="Lato"/>
                <a:ea typeface="Lato"/>
                <a:cs typeface="Lato"/>
                <a:sym typeface="Lato"/>
              </a:rPr>
              <a:t>Parity can only detect single-bit errors</a:t>
            </a:r>
            <a:br>
              <a:rPr b="0" i="0" lang="en" sz="1300" u="none" cap="none" strike="noStrike">
                <a:solidFill>
                  <a:schemeClr val="accent1"/>
                </a:solidFill>
                <a:latin typeface="Lato"/>
                <a:ea typeface="Lato"/>
                <a:cs typeface="Lato"/>
                <a:sym typeface="Lato"/>
              </a:rPr>
            </a:br>
            <a:endParaRPr b="0" i="0" sz="1300" u="none" cap="none" strike="noStrike">
              <a:solidFill>
                <a:schemeClr val="accent1"/>
              </a:solidFill>
              <a:latin typeface="Lato"/>
              <a:ea typeface="Lato"/>
              <a:cs typeface="Lato"/>
              <a:sym typeface="Lato"/>
            </a:endParaRPr>
          </a:p>
          <a:p>
            <a:pPr indent="-311150" lvl="0" marL="457200" marR="0" rtl="0" algn="l">
              <a:lnSpc>
                <a:spcPct val="115000"/>
              </a:lnSpc>
              <a:spcBef>
                <a:spcPts val="0"/>
              </a:spcBef>
              <a:spcAft>
                <a:spcPts val="0"/>
              </a:spcAft>
              <a:buClr>
                <a:schemeClr val="accent3"/>
              </a:buClr>
              <a:buSzPts val="1300"/>
              <a:buFont typeface="Lato"/>
              <a:buChar char="●"/>
            </a:pPr>
            <a:r>
              <a:rPr b="0" i="0" lang="en" sz="1300" u="none" cap="none" strike="noStrike">
                <a:solidFill>
                  <a:schemeClr val="accent1"/>
                </a:solidFill>
                <a:latin typeface="Lato"/>
                <a:ea typeface="Lato"/>
                <a:cs typeface="Lato"/>
                <a:sym typeface="Lato"/>
              </a:rPr>
              <a:t>Parity is not effective against certain types of errors, such as burst errors, where multiple consecutive bits are corrupted</a:t>
            </a:r>
            <a:endParaRPr b="0" i="0" sz="1300" u="none" cap="none" strike="noStrike">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2D Parity / LRC</a:t>
            </a:r>
            <a:endParaRPr/>
          </a:p>
        </p:txBody>
      </p:sp>
      <p:sp>
        <p:nvSpPr>
          <p:cNvPr id="123" name="Google Shape;123;p6"/>
          <p:cNvSpPr txBox="1"/>
          <p:nvPr>
            <p:ph idx="1" type="body"/>
          </p:nvPr>
        </p:nvSpPr>
        <p:spPr>
          <a:xfrm>
            <a:off x="729450" y="2078875"/>
            <a:ext cx="3591900" cy="22611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0"/>
              </a:spcBef>
              <a:spcAft>
                <a:spcPts val="0"/>
              </a:spcAft>
              <a:buSzPts val="1300"/>
              <a:buNone/>
            </a:pPr>
            <a:r>
              <a:rPr lang="en"/>
              <a:t>Two-dimensional (2D) parity is an extension of the basic parity checking concept, where parity bits are added both horizontally and vertically to a block of data.</a:t>
            </a:r>
            <a:endParaRPr/>
          </a:p>
          <a:p>
            <a:pPr indent="-311150" lvl="0" marL="457200" rtl="0" algn="just">
              <a:lnSpc>
                <a:spcPct val="115000"/>
              </a:lnSpc>
              <a:spcBef>
                <a:spcPts val="1200"/>
              </a:spcBef>
              <a:spcAft>
                <a:spcPts val="0"/>
              </a:spcAft>
              <a:buClr>
                <a:schemeClr val="accent3"/>
              </a:buClr>
              <a:buSzPts val="1300"/>
              <a:buChar char="●"/>
            </a:pPr>
            <a:r>
              <a:rPr lang="en"/>
              <a:t>2D parity is still primarily focused on detecting single-bit errors.</a:t>
            </a:r>
            <a:br>
              <a:rPr lang="en"/>
            </a:br>
            <a:endParaRPr/>
          </a:p>
          <a:p>
            <a:pPr indent="-311150" lvl="0" marL="457200" rtl="0" algn="just">
              <a:lnSpc>
                <a:spcPct val="115000"/>
              </a:lnSpc>
              <a:spcBef>
                <a:spcPts val="0"/>
              </a:spcBef>
              <a:spcAft>
                <a:spcPts val="0"/>
              </a:spcAft>
              <a:buClr>
                <a:schemeClr val="accent3"/>
              </a:buClr>
              <a:buSzPts val="1300"/>
              <a:buChar char="●"/>
            </a:pPr>
            <a:r>
              <a:rPr lang="en"/>
              <a:t> 2D parity is not effective in detecting or correcting burst errors, where multiple bits in close proximity are corrupted.</a:t>
            </a:r>
            <a:endParaRPr/>
          </a:p>
        </p:txBody>
      </p:sp>
      <p:pic>
        <p:nvPicPr>
          <p:cNvPr id="124" name="Google Shape;124;p6"/>
          <p:cNvPicPr preferRelativeResize="0"/>
          <p:nvPr/>
        </p:nvPicPr>
        <p:blipFill rotWithShape="1">
          <a:blip r:embed="rId3">
            <a:alphaModFix/>
          </a:blip>
          <a:srcRect b="0" l="8689" r="6528" t="0"/>
          <a:stretch/>
        </p:blipFill>
        <p:spPr>
          <a:xfrm>
            <a:off x="4457200" y="1853650"/>
            <a:ext cx="3960949" cy="2711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Checksum</a:t>
            </a:r>
            <a:endParaRPr/>
          </a:p>
        </p:txBody>
      </p:sp>
      <p:sp>
        <p:nvSpPr>
          <p:cNvPr id="130" name="Google Shape;130;p7"/>
          <p:cNvSpPr txBox="1"/>
          <p:nvPr>
            <p:ph idx="1" type="body"/>
          </p:nvPr>
        </p:nvSpPr>
        <p:spPr>
          <a:xfrm>
            <a:off x="729450" y="2078875"/>
            <a:ext cx="3448800" cy="22611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just">
              <a:lnSpc>
                <a:spcPct val="115000"/>
              </a:lnSpc>
              <a:spcBef>
                <a:spcPts val="0"/>
              </a:spcBef>
              <a:spcAft>
                <a:spcPts val="0"/>
              </a:spcAft>
              <a:buSzPct val="117647"/>
              <a:buNone/>
            </a:pPr>
            <a:r>
              <a:rPr lang="en"/>
              <a:t>Checksums are a form of error-checking technique commonly used in computing and data communication to detect errors in data transmission.</a:t>
            </a:r>
            <a:endParaRPr/>
          </a:p>
          <a:p>
            <a:pPr indent="-298767" lvl="0" marL="457200" rtl="0" algn="just">
              <a:lnSpc>
                <a:spcPct val="115000"/>
              </a:lnSpc>
              <a:spcBef>
                <a:spcPts val="1200"/>
              </a:spcBef>
              <a:spcAft>
                <a:spcPts val="0"/>
              </a:spcAft>
              <a:buClr>
                <a:schemeClr val="accent3"/>
              </a:buClr>
              <a:buSzPct val="100000"/>
              <a:buChar char="●"/>
            </a:pPr>
            <a:r>
              <a:rPr lang="en"/>
              <a:t>Checksums are not effective in detecting more sophisticated errors, such as burst errors or multiple simultaneous errors.</a:t>
            </a:r>
            <a:br>
              <a:rPr lang="en"/>
            </a:br>
            <a:endParaRPr/>
          </a:p>
          <a:p>
            <a:pPr indent="-298767" lvl="0" marL="457200" rtl="0" algn="just">
              <a:lnSpc>
                <a:spcPct val="115000"/>
              </a:lnSpc>
              <a:spcBef>
                <a:spcPts val="0"/>
              </a:spcBef>
              <a:spcAft>
                <a:spcPts val="0"/>
              </a:spcAft>
              <a:buClr>
                <a:schemeClr val="accent3"/>
              </a:buClr>
              <a:buSzPct val="100000"/>
              <a:buChar char="●"/>
            </a:pPr>
            <a:r>
              <a:rPr lang="en"/>
              <a:t>Many checksum algorithms require fixed-size blocks of data. If the data size varies, padding or other adjustments may be necessary, potentially leading to inefficiencies in terms of both space and computation</a:t>
            </a:r>
            <a:endParaRPr/>
          </a:p>
        </p:txBody>
      </p:sp>
      <p:pic>
        <p:nvPicPr>
          <p:cNvPr id="131" name="Google Shape;131;p7"/>
          <p:cNvPicPr preferRelativeResize="0"/>
          <p:nvPr/>
        </p:nvPicPr>
        <p:blipFill rotWithShape="1">
          <a:blip r:embed="rId3">
            <a:alphaModFix/>
          </a:blip>
          <a:srcRect b="0" l="0" r="0" t="0"/>
          <a:stretch/>
        </p:blipFill>
        <p:spPr>
          <a:xfrm>
            <a:off x="4296798" y="902323"/>
            <a:ext cx="4426150" cy="4112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Cyclic Redundancy Check</a:t>
            </a:r>
            <a:endParaRPr/>
          </a:p>
        </p:txBody>
      </p:sp>
      <p:pic>
        <p:nvPicPr>
          <p:cNvPr id="137" name="Google Shape;137;p8"/>
          <p:cNvPicPr preferRelativeResize="0"/>
          <p:nvPr/>
        </p:nvPicPr>
        <p:blipFill rotWithShape="1">
          <a:blip r:embed="rId3">
            <a:alphaModFix/>
          </a:blip>
          <a:srcRect b="7893" l="0" r="0" t="0"/>
          <a:stretch/>
        </p:blipFill>
        <p:spPr>
          <a:xfrm>
            <a:off x="3769950" y="2182938"/>
            <a:ext cx="4876800" cy="2052975"/>
          </a:xfrm>
          <a:prstGeom prst="rect">
            <a:avLst/>
          </a:prstGeom>
          <a:noFill/>
          <a:ln>
            <a:noFill/>
          </a:ln>
        </p:spPr>
      </p:pic>
      <p:sp>
        <p:nvSpPr>
          <p:cNvPr id="138" name="Google Shape;138;p8"/>
          <p:cNvSpPr txBox="1"/>
          <p:nvPr/>
        </p:nvSpPr>
        <p:spPr>
          <a:xfrm>
            <a:off x="812950" y="1950200"/>
            <a:ext cx="2737800" cy="2786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300"/>
              <a:buFont typeface="Arial"/>
              <a:buNone/>
            </a:pPr>
            <a:r>
              <a:rPr b="0" i="0" lang="en" sz="1300" u="none" cap="none" strike="noStrike">
                <a:solidFill>
                  <a:schemeClr val="accent1"/>
                </a:solidFill>
                <a:latin typeface="Lato"/>
                <a:ea typeface="Lato"/>
                <a:cs typeface="Lato"/>
                <a:sym typeface="Lato"/>
              </a:rPr>
              <a:t>It is a type of checksum that involves the use of polynomial codes to generate a fixed-size value (CRC code) based on the data being transmitted. This CRC code is then sent along with the data, and the receiving end uses the same polynomial code to recalculate the CRC code. If the recalculated CRC code matches the one received, the data is assumed to be free of errors; otherwise, an error is detected.</a:t>
            </a:r>
            <a:endParaRPr b="0" i="0" sz="1300" u="none" cap="none" strike="noStrike">
              <a:solidFill>
                <a:schemeClr val="accen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CRC Calculation using Polynomial long division</a:t>
            </a:r>
            <a:endParaRPr/>
          </a:p>
        </p:txBody>
      </p:sp>
      <p:pic>
        <p:nvPicPr>
          <p:cNvPr id="144" name="Google Shape;144;p9"/>
          <p:cNvPicPr preferRelativeResize="0"/>
          <p:nvPr/>
        </p:nvPicPr>
        <p:blipFill rotWithShape="1">
          <a:blip r:embed="rId3">
            <a:alphaModFix/>
          </a:blip>
          <a:srcRect b="0" l="0" r="0" t="0"/>
          <a:stretch/>
        </p:blipFill>
        <p:spPr>
          <a:xfrm>
            <a:off x="4572000" y="1884925"/>
            <a:ext cx="3801075" cy="2747650"/>
          </a:xfrm>
          <a:prstGeom prst="rect">
            <a:avLst/>
          </a:prstGeom>
          <a:noFill/>
          <a:ln>
            <a:noFill/>
          </a:ln>
        </p:spPr>
      </p:pic>
      <p:pic>
        <p:nvPicPr>
          <p:cNvPr id="145" name="Google Shape;145;p9"/>
          <p:cNvPicPr preferRelativeResize="0"/>
          <p:nvPr/>
        </p:nvPicPr>
        <p:blipFill rotWithShape="1">
          <a:blip r:embed="rId4">
            <a:alphaModFix/>
          </a:blip>
          <a:srcRect b="0" l="0" r="0" t="0"/>
          <a:stretch/>
        </p:blipFill>
        <p:spPr>
          <a:xfrm>
            <a:off x="805650" y="1809263"/>
            <a:ext cx="2628900" cy="2800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Divisor Polynomial</a:t>
            </a:r>
            <a:endParaRPr/>
          </a:p>
        </p:txBody>
      </p:sp>
      <p:sp>
        <p:nvSpPr>
          <p:cNvPr id="151" name="Google Shape;151;p1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0"/>
              </a:spcAft>
              <a:buSzPct val="129032"/>
              <a:buNone/>
            </a:pPr>
            <a:r>
              <a:rPr lang="en"/>
              <a:t>The selection of a divisor polynomial in Cyclic Redundancy Check (CRC) is a crucial aspect that directly influences the effectiveness of error detection. </a:t>
            </a:r>
            <a:endParaRPr/>
          </a:p>
          <a:p>
            <a:pPr indent="-292607" lvl="0" marL="457200" rtl="0" algn="l">
              <a:lnSpc>
                <a:spcPct val="115000"/>
              </a:lnSpc>
              <a:spcBef>
                <a:spcPts val="1200"/>
              </a:spcBef>
              <a:spcAft>
                <a:spcPts val="0"/>
              </a:spcAft>
              <a:buSzPct val="100000"/>
              <a:buChar char="●"/>
            </a:pPr>
            <a:r>
              <a:rPr b="1" lang="en"/>
              <a:t>Degree of Polynomial</a:t>
            </a:r>
            <a:r>
              <a:rPr lang="en"/>
              <a:t> : The degree of the divisor polynomial should be carefully chosen based on the desired level of error detection. A higher-degree polynomial can detect a broader range of errors, including longer burst errors. However, it also results in a longer CRC code.</a:t>
            </a:r>
            <a:br>
              <a:rPr lang="en"/>
            </a:br>
            <a:endParaRPr/>
          </a:p>
          <a:p>
            <a:pPr indent="-292607" lvl="0" marL="457200" rtl="0" algn="l">
              <a:lnSpc>
                <a:spcPct val="115000"/>
              </a:lnSpc>
              <a:spcBef>
                <a:spcPts val="0"/>
              </a:spcBef>
              <a:spcAft>
                <a:spcPts val="0"/>
              </a:spcAft>
              <a:buSzPct val="100000"/>
              <a:buChar char="●"/>
            </a:pPr>
            <a:r>
              <a:rPr b="1" lang="en"/>
              <a:t>Odd Degree Polynomial</a:t>
            </a:r>
            <a:r>
              <a:rPr lang="en"/>
              <a:t>: To ensure that the divisor polynomial can detect all single-bit errors, it is common to use a polynomial with an odd degree. An odd-degree polynomial ensures that it can detect any odd number of errors, including a single-bit error.</a:t>
            </a:r>
            <a:br>
              <a:rPr lang="en"/>
            </a:br>
            <a:endParaRPr/>
          </a:p>
          <a:p>
            <a:pPr indent="-292607" lvl="0" marL="457200" rtl="0" algn="l">
              <a:lnSpc>
                <a:spcPct val="115000"/>
              </a:lnSpc>
              <a:spcBef>
                <a:spcPts val="0"/>
              </a:spcBef>
              <a:spcAft>
                <a:spcPts val="0"/>
              </a:spcAft>
              <a:buSzPct val="100000"/>
              <a:buChar char="●"/>
            </a:pPr>
            <a:r>
              <a:rPr b="1" lang="en"/>
              <a:t>Performance Considerations</a:t>
            </a:r>
            <a:r>
              <a:rPr lang="en"/>
              <a:t>: The computational complexity of polynomial division increases with the degree of the polynomial. Therefore, the selection of a divisor polynomial should also consider the computational efficiency, especially in systems where real-time processing is crucial.</a:t>
            </a:r>
            <a:endParaRPr/>
          </a:p>
        </p:txBody>
      </p:sp>
      <p:pic>
        <p:nvPicPr>
          <p:cNvPr id="152" name="Google Shape;152;p10"/>
          <p:cNvPicPr preferRelativeResize="0"/>
          <p:nvPr/>
        </p:nvPicPr>
        <p:blipFill rotWithShape="1">
          <a:blip r:embed="rId3">
            <a:alphaModFix/>
          </a:blip>
          <a:srcRect b="0" l="2248" r="0" t="0"/>
          <a:stretch/>
        </p:blipFill>
        <p:spPr>
          <a:xfrm>
            <a:off x="3996375" y="1163000"/>
            <a:ext cx="4193225" cy="752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1"/>
          <p:cNvSpPr/>
          <p:nvPr/>
        </p:nvSpPr>
        <p:spPr>
          <a:xfrm>
            <a:off x="5739525" y="3532025"/>
            <a:ext cx="2494500" cy="80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8" name="Google Shape;158;p1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Hamming Code - Error Correction</a:t>
            </a:r>
            <a:endParaRPr/>
          </a:p>
        </p:txBody>
      </p:sp>
      <p:sp>
        <p:nvSpPr>
          <p:cNvPr id="159" name="Google Shape;159;p11"/>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SzPct val="108108"/>
              <a:buNone/>
            </a:pPr>
            <a:r>
              <a:rPr lang="en"/>
              <a:t>In this technique, additional parity bits are added to the message, allowing the receiver to detect and correct single-bit and multiple-bit errors.</a:t>
            </a:r>
            <a:endParaRPr/>
          </a:p>
          <a:p>
            <a:pPr indent="0" lvl="0" marL="0" rtl="0" algn="l">
              <a:lnSpc>
                <a:spcPct val="115000"/>
              </a:lnSpc>
              <a:spcBef>
                <a:spcPts val="1200"/>
              </a:spcBef>
              <a:spcAft>
                <a:spcPts val="0"/>
              </a:spcAft>
              <a:buSzPct val="108108"/>
              <a:buNone/>
            </a:pPr>
            <a:r>
              <a:rPr lang="en"/>
              <a:t>Example: </a:t>
            </a:r>
            <a:r>
              <a:rPr b="1" lang="en"/>
              <a:t>Suppose the sender wants to transmit the message whose bit representation is </a:t>
            </a:r>
            <a:r>
              <a:rPr b="1" lang="en">
                <a:solidFill>
                  <a:srgbClr val="FF0000"/>
                </a:solidFill>
              </a:rPr>
              <a:t>‘1011001’ </a:t>
            </a:r>
            <a:endParaRPr b="1">
              <a:solidFill>
                <a:srgbClr val="FF0000"/>
              </a:solidFill>
            </a:endParaRPr>
          </a:p>
          <a:p>
            <a:pPr indent="0" lvl="0" marL="0" rtl="0" algn="l">
              <a:lnSpc>
                <a:spcPct val="115000"/>
              </a:lnSpc>
              <a:spcBef>
                <a:spcPts val="1200"/>
              </a:spcBef>
              <a:spcAft>
                <a:spcPts val="0"/>
              </a:spcAft>
              <a:buSzPct val="108108"/>
              <a:buNone/>
            </a:pPr>
            <a:r>
              <a:rPr b="1" lang="en"/>
              <a:t>Total number of bits</a:t>
            </a:r>
            <a:r>
              <a:rPr lang="en"/>
              <a:t> (d) = 7</a:t>
            </a:r>
            <a:endParaRPr/>
          </a:p>
          <a:p>
            <a:pPr indent="0" lvl="0" marL="0" rtl="0" algn="l">
              <a:lnSpc>
                <a:spcPct val="115000"/>
              </a:lnSpc>
              <a:spcBef>
                <a:spcPts val="1200"/>
              </a:spcBef>
              <a:spcAft>
                <a:spcPts val="0"/>
              </a:spcAft>
              <a:buSzPct val="108108"/>
              <a:buNone/>
            </a:pPr>
            <a:r>
              <a:rPr b="1" lang="en"/>
              <a:t>Total number of redundant parity bits </a:t>
            </a:r>
            <a:r>
              <a:rPr lang="en"/>
              <a:t>(p) = 4</a:t>
            </a:r>
            <a:endParaRPr/>
          </a:p>
          <a:p>
            <a:pPr indent="0" lvl="0" marL="0" rtl="0" algn="l">
              <a:lnSpc>
                <a:spcPct val="115000"/>
              </a:lnSpc>
              <a:spcBef>
                <a:spcPts val="1200"/>
              </a:spcBef>
              <a:spcAft>
                <a:spcPts val="0"/>
              </a:spcAft>
              <a:buSzPct val="108108"/>
              <a:buNone/>
            </a:pPr>
            <a:r>
              <a:rPr lang="en"/>
              <a:t>Thus, total bits (d+p) = 7 + 4 = 11</a:t>
            </a:r>
            <a:endParaRPr/>
          </a:p>
          <a:p>
            <a:pPr indent="0" lvl="0" marL="0" rtl="0" algn="l">
              <a:lnSpc>
                <a:spcPct val="115000"/>
              </a:lnSpc>
              <a:spcBef>
                <a:spcPts val="1200"/>
              </a:spcBef>
              <a:spcAft>
                <a:spcPts val="1200"/>
              </a:spcAft>
              <a:buSzPct val="86539"/>
              <a:buNone/>
            </a:pPr>
            <a:r>
              <a:rPr b="1" lang="en">
                <a:solidFill>
                  <a:srgbClr val="FF00FF"/>
                </a:solidFill>
                <a:highlight>
                  <a:schemeClr val="lt1"/>
                </a:highlight>
              </a:rPr>
              <a:t>For computing the total number of redundant bits: </a:t>
            </a:r>
            <a:r>
              <a:rPr b="1" lang="en" sz="1624">
                <a:solidFill>
                  <a:srgbClr val="FF00FF"/>
                </a:solidFill>
                <a:highlight>
                  <a:schemeClr val="lt1"/>
                </a:highlight>
              </a:rPr>
              <a:t>2</a:t>
            </a:r>
            <a:r>
              <a:rPr b="1" baseline="30000" lang="en" sz="1624">
                <a:solidFill>
                  <a:srgbClr val="FF00FF"/>
                </a:solidFill>
                <a:highlight>
                  <a:schemeClr val="lt1"/>
                </a:highlight>
              </a:rPr>
              <a:t>p</a:t>
            </a:r>
            <a:r>
              <a:rPr b="1" lang="en" sz="1624">
                <a:solidFill>
                  <a:srgbClr val="FF00FF"/>
                </a:solidFill>
                <a:highlight>
                  <a:schemeClr val="lt1"/>
                </a:highlight>
              </a:rPr>
              <a:t> ≥ d+p+1 			</a:t>
            </a:r>
            <a:r>
              <a:rPr b="1" lang="en" sz="1624">
                <a:solidFill>
                  <a:srgbClr val="0000FF"/>
                </a:solidFill>
                <a:highlight>
                  <a:schemeClr val="lt1"/>
                </a:highlight>
              </a:rPr>
              <a:t>DATA + REDUNDANT BITS</a:t>
            </a:r>
            <a:endParaRPr b="1" sz="1624">
              <a:solidFill>
                <a:srgbClr val="0000FF"/>
              </a:solidFill>
              <a:highlight>
                <a:schemeClr val="lt1"/>
              </a:highlight>
            </a:endParaRPr>
          </a:p>
        </p:txBody>
      </p:sp>
      <p:sp>
        <p:nvSpPr>
          <p:cNvPr id="160" name="Google Shape;160;p11"/>
          <p:cNvSpPr txBox="1"/>
          <p:nvPr/>
        </p:nvSpPr>
        <p:spPr>
          <a:xfrm>
            <a:off x="6387050" y="3561450"/>
            <a:ext cx="1309800" cy="39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CODE WORD</a:t>
            </a:r>
            <a:endParaRPr sz="1300">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1: Parity Bits Addition</a:t>
            </a:r>
            <a:endParaRPr/>
          </a:p>
        </p:txBody>
      </p:sp>
      <p:sp>
        <p:nvSpPr>
          <p:cNvPr id="166" name="Google Shape;166;p1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n"/>
              <a:t>Parity bits are inserted at positions that are powers of 2</a:t>
            </a:r>
            <a:endParaRPr/>
          </a:p>
          <a:p>
            <a:pPr indent="0" lvl="0" marL="0" rtl="0" algn="l">
              <a:lnSpc>
                <a:spcPct val="115000"/>
              </a:lnSpc>
              <a:spcBef>
                <a:spcPts val="1200"/>
              </a:spcBef>
              <a:spcAft>
                <a:spcPts val="1200"/>
              </a:spcAft>
              <a:buSzPts val="1300"/>
              <a:buNone/>
            </a:pPr>
            <a:r>
              <a:t/>
            </a:r>
            <a:endParaRPr/>
          </a:p>
        </p:txBody>
      </p:sp>
      <p:graphicFrame>
        <p:nvGraphicFramePr>
          <p:cNvPr id="167" name="Google Shape;167;p12"/>
          <p:cNvGraphicFramePr/>
          <p:nvPr/>
        </p:nvGraphicFramePr>
        <p:xfrm>
          <a:off x="952500" y="3081525"/>
          <a:ext cx="3000000" cy="3000000"/>
        </p:xfrm>
        <a:graphic>
          <a:graphicData uri="http://schemas.openxmlformats.org/drawingml/2006/table">
            <a:tbl>
              <a:tblPr>
                <a:noFill/>
                <a:tableStyleId>{06DCB670-B794-41FA-9D6C-3016EC5C60CC}</a:tableStyleId>
              </a:tblPr>
              <a:tblGrid>
                <a:gridCol w="525325"/>
                <a:gridCol w="525325"/>
                <a:gridCol w="525325"/>
                <a:gridCol w="525325"/>
                <a:gridCol w="525325"/>
                <a:gridCol w="525325"/>
                <a:gridCol w="525325"/>
                <a:gridCol w="525325"/>
                <a:gridCol w="525325"/>
                <a:gridCol w="525325"/>
                <a:gridCol w="525325"/>
                <a:gridCol w="1460275"/>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2</a:t>
                      </a:r>
                      <a:r>
                        <a:rPr baseline="30000" lang="en" sz="1400" u="none" cap="none" strike="noStrike"/>
                        <a:t>3</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2</a:t>
                      </a:r>
                      <a:r>
                        <a:rPr baseline="30000" lang="en" sz="1400" u="none" cap="none" strike="noStrike"/>
                        <a:t>2</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2</a:t>
                      </a:r>
                      <a:r>
                        <a:rPr baseline="30000" lang="en" sz="1400" u="none" cap="none" strike="noStrike"/>
                        <a:t>1</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2</a:t>
                      </a:r>
                      <a:r>
                        <a:rPr baseline="30000" lang="en" sz="1400" u="none" cap="none" strike="noStrike"/>
                        <a:t>0</a:t>
                      </a:r>
                      <a:endParaRPr baseline="30000"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Power of 2</a:t>
                      </a:r>
                      <a:endParaRPr sz="900" u="none" cap="none" strike="noStrike"/>
                    </a:p>
                  </a:txBody>
                  <a:tcPr marT="91425" marB="91425" marR="91425" marL="91425" anchor="ct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P</a:t>
                      </a:r>
                      <a:r>
                        <a:rPr lang="en"/>
                        <a:t>8</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P</a:t>
                      </a:r>
                      <a:r>
                        <a:rPr lang="en"/>
                        <a:t>4</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P2</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P1</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Message (bit sequence)</a:t>
                      </a:r>
                      <a:endParaRPr sz="900" u="none" cap="none" strike="noStrike"/>
                    </a:p>
                  </a:txBody>
                  <a:tcPr marT="91425" marB="91425" marR="91425" marL="91425" anchor="ct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11</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10</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9</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8</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7</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6</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5</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4</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3</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2</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Total bits (d+p)</a:t>
                      </a:r>
                      <a:endParaRPr sz="900" u="none" cap="none" strike="noStrike"/>
                    </a:p>
                  </a:txBody>
                  <a:tcPr marT="91425" marB="91425" marR="91425" marL="91425"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2: Calculating Parity Bits</a:t>
            </a:r>
            <a:endParaRPr/>
          </a:p>
        </p:txBody>
      </p:sp>
      <p:sp>
        <p:nvSpPr>
          <p:cNvPr id="173" name="Google Shape;173;p13"/>
          <p:cNvSpPr txBox="1"/>
          <p:nvPr>
            <p:ph idx="1" type="body"/>
          </p:nvPr>
        </p:nvSpPr>
        <p:spPr>
          <a:xfrm>
            <a:off x="729450" y="2078875"/>
            <a:ext cx="52314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n"/>
              <a:t>Each parity bit checks a specific set of bits in the data word, including other parity bits. The parity bits are set such that the number of 1s in the positions they check (including the parity bit itself) is even or odd, depending on the chosen parity scheme (usually even parity).</a:t>
            </a:r>
            <a:endParaRPr/>
          </a:p>
          <a:p>
            <a:pPr indent="0" lvl="0" marL="0" rtl="0" algn="l">
              <a:lnSpc>
                <a:spcPct val="115000"/>
              </a:lnSpc>
              <a:spcBef>
                <a:spcPts val="1200"/>
              </a:spcBef>
              <a:spcAft>
                <a:spcPts val="1200"/>
              </a:spcAft>
              <a:buSzPts val="1300"/>
              <a:buNone/>
            </a:pPr>
            <a:r>
              <a:rPr lang="en"/>
              <a:t>For example, parity bit 1 checks bits 1, 3, 5, 7, etc., parity bit 2 checks bits 2, 3, 6, 7, etc., and so on.</a:t>
            </a:r>
            <a:endParaRPr/>
          </a:p>
        </p:txBody>
      </p:sp>
      <p:graphicFrame>
        <p:nvGraphicFramePr>
          <p:cNvPr id="174" name="Google Shape;174;p13"/>
          <p:cNvGraphicFramePr/>
          <p:nvPr/>
        </p:nvGraphicFramePr>
        <p:xfrm>
          <a:off x="6095930" y="796875"/>
          <a:ext cx="3000000" cy="3000000"/>
        </p:xfrm>
        <a:graphic>
          <a:graphicData uri="http://schemas.openxmlformats.org/drawingml/2006/table">
            <a:tbl>
              <a:tblPr>
                <a:noFill/>
                <a:tableStyleId>{06DCB670-B794-41FA-9D6C-3016EC5C60CC}</a:tableStyleId>
              </a:tblPr>
              <a:tblGrid>
                <a:gridCol w="840475"/>
                <a:gridCol w="461950"/>
                <a:gridCol w="461950"/>
                <a:gridCol w="461950"/>
                <a:gridCol w="461950"/>
              </a:tblGrid>
              <a:tr h="30550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Position</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P</a:t>
                      </a:r>
                      <a:r>
                        <a:rPr lang="en" sz="1200"/>
                        <a:t>8</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P</a:t>
                      </a:r>
                      <a:r>
                        <a:rPr lang="en" sz="1200"/>
                        <a:t>4</a:t>
                      </a:r>
                      <a:endParaRPr sz="1200" u="none" cap="none" strike="noStrike"/>
                    </a:p>
                  </a:txBody>
                  <a:tcPr marT="0" marB="91425" marR="91425" marL="91425" anchor="b">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P2</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P1</a:t>
                      </a:r>
                      <a:endParaRPr sz="1200" u="none" cap="none" strike="noStrike"/>
                    </a:p>
                  </a:txBody>
                  <a:tcPr marT="0" marB="91425" marR="91425" marL="91425" anchor="b"/>
                </a:tc>
              </a:tr>
              <a:tr h="30550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tc>
              </a:tr>
              <a:tr h="30550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B cap="flat" cmpd="sng" w="9525">
                      <a:solidFill>
                        <a:srgbClr val="9E9E9E"/>
                      </a:solidFill>
                      <a:prstDash val="solid"/>
                      <a:round/>
                      <a:headEnd len="sm" w="sm" type="none"/>
                      <a:tailEnd len="sm" w="sm" type="none"/>
                    </a:lnB>
                    <a:solidFill>
                      <a:schemeClr val="accent3"/>
                    </a:solidFill>
                  </a:tcPr>
                </a:tc>
              </a:tr>
              <a:tr h="30550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2</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550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3</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3"/>
                    </a:solidFill>
                  </a:tcPr>
                </a:tc>
              </a:tr>
              <a:tr h="30550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4</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550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5</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3"/>
                    </a:solidFill>
                  </a:tcPr>
                </a:tc>
              </a:tr>
              <a:tr h="30550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6</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550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7</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3"/>
                    </a:solidFill>
                  </a:tcPr>
                </a:tc>
              </a:tr>
              <a:tr h="30550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8</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R cap="flat" cmpd="sng" w="9525">
                      <a:solidFill>
                        <a:srgbClr val="9E9E9E"/>
                      </a:solidFill>
                      <a:prstDash val="solid"/>
                      <a:round/>
                      <a:headEnd len="sm" w="sm" type="none"/>
                      <a:tailEnd len="sm" w="sm" type="none"/>
                    </a:lnR>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550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9</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R cap="flat" cmpd="sng" w="9525">
                      <a:solidFill>
                        <a:srgbClr val="9E9E9E"/>
                      </a:solidFill>
                      <a:prstDash val="solid"/>
                      <a:round/>
                      <a:headEnd len="sm" w="sm" type="none"/>
                      <a:tailEnd len="sm" w="sm" type="none"/>
                    </a:lnR>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3"/>
                    </a:solidFill>
                  </a:tcPr>
                </a:tc>
              </a:tr>
              <a:tr h="30550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10</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R cap="flat" cmpd="sng" w="9525">
                      <a:solidFill>
                        <a:srgbClr val="9E9E9E"/>
                      </a:solidFill>
                      <a:prstDash val="solid"/>
                      <a:round/>
                      <a:headEnd len="sm" w="sm" type="none"/>
                      <a:tailEnd len="sm" w="sm" type="none"/>
                    </a:lnR>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550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11</a:t>
                      </a:r>
                      <a:endParaRPr sz="1200" u="none" cap="none" strike="noStrike"/>
                    </a:p>
                  </a:txBody>
                  <a:tcPr marT="0" marB="91425" marR="91425" marL="914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R cap="flat" cmpd="sng" w="9525">
                      <a:solidFill>
                        <a:srgbClr val="9E9E9E"/>
                      </a:solidFill>
                      <a:prstDash val="solid"/>
                      <a:round/>
                      <a:headEnd len="sm" w="sm" type="none"/>
                      <a:tailEnd len="sm" w="sm" type="none"/>
                    </a:lnR>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3"/>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3"/>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3: Error Detection</a:t>
            </a:r>
            <a:endParaRPr/>
          </a:p>
        </p:txBody>
      </p:sp>
      <p:graphicFrame>
        <p:nvGraphicFramePr>
          <p:cNvPr id="180" name="Google Shape;180;p14"/>
          <p:cNvGraphicFramePr/>
          <p:nvPr/>
        </p:nvGraphicFramePr>
        <p:xfrm>
          <a:off x="1313463" y="2058601"/>
          <a:ext cx="3000000" cy="3000000"/>
        </p:xfrm>
        <a:graphic>
          <a:graphicData uri="http://schemas.openxmlformats.org/drawingml/2006/table">
            <a:tbl>
              <a:tblPr>
                <a:noFill/>
                <a:tableStyleId>{06DCB670-B794-41FA-9D6C-3016EC5C60CC}</a:tableStyleId>
              </a:tblPr>
              <a:tblGrid>
                <a:gridCol w="441050"/>
                <a:gridCol w="441050"/>
                <a:gridCol w="441050"/>
                <a:gridCol w="441050"/>
                <a:gridCol w="441050"/>
                <a:gridCol w="441050"/>
                <a:gridCol w="441050"/>
                <a:gridCol w="441050"/>
                <a:gridCol w="441050"/>
                <a:gridCol w="441050"/>
                <a:gridCol w="441050"/>
                <a:gridCol w="1665525"/>
              </a:tblGrid>
              <a:tr h="367275">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11</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10</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9</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8</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7</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6</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5</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4</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3</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2</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solidFill>
                      <a:srgbClr val="D9D9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chemeClr val="dk2"/>
                          </a:solidFill>
                        </a:rPr>
                        <a:t>Bit Position</a:t>
                      </a:r>
                      <a:endParaRPr sz="900" u="none" cap="none" strike="noStrike">
                        <a:solidFill>
                          <a:schemeClr val="dk2"/>
                        </a:solidFill>
                      </a:endParaRPr>
                    </a:p>
                  </a:txBody>
                  <a:tcPr marT="91425" marB="91425" marR="91425" marL="91425" anchor="ctr">
                    <a:solidFill>
                      <a:srgbClr val="D9D9D9"/>
                    </a:solidFill>
                  </a:tcPr>
                </a:tc>
              </a:tr>
            </a:tbl>
          </a:graphicData>
        </a:graphic>
      </p:graphicFrame>
      <p:graphicFrame>
        <p:nvGraphicFramePr>
          <p:cNvPr id="181" name="Google Shape;181;p14"/>
          <p:cNvGraphicFramePr/>
          <p:nvPr/>
        </p:nvGraphicFramePr>
        <p:xfrm>
          <a:off x="1313463" y="2426519"/>
          <a:ext cx="3000000" cy="3000000"/>
        </p:xfrm>
        <a:graphic>
          <a:graphicData uri="http://schemas.openxmlformats.org/drawingml/2006/table">
            <a:tbl>
              <a:tblPr>
                <a:noFill/>
                <a:tableStyleId>{06DCB670-B794-41FA-9D6C-3016EC5C60CC}</a:tableStyleId>
              </a:tblPr>
              <a:tblGrid>
                <a:gridCol w="441050"/>
                <a:gridCol w="441050"/>
                <a:gridCol w="441050"/>
                <a:gridCol w="441050"/>
                <a:gridCol w="441050"/>
                <a:gridCol w="441050"/>
                <a:gridCol w="441050"/>
                <a:gridCol w="441050"/>
                <a:gridCol w="441050"/>
                <a:gridCol w="441050"/>
                <a:gridCol w="441050"/>
                <a:gridCol w="1665525"/>
              </a:tblGrid>
              <a:tr h="381000">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D7</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D6</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D5</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solidFill>
                            <a:srgbClr val="FF0000"/>
                          </a:solidFill>
                        </a:rPr>
                        <a:t>P</a:t>
                      </a:r>
                      <a:r>
                        <a:rPr lang="en" sz="900">
                          <a:solidFill>
                            <a:srgbClr val="FF0000"/>
                          </a:solidFill>
                        </a:rPr>
                        <a:t>8</a:t>
                      </a:r>
                      <a:endParaRPr sz="900" u="none" cap="none" strike="noStrike">
                        <a:solidFill>
                          <a:srgbClr val="FF0000"/>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D4</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D3</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D2</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solidFill>
                            <a:srgbClr val="FF0000"/>
                          </a:solidFill>
                        </a:rPr>
                        <a:t>P</a:t>
                      </a:r>
                      <a:r>
                        <a:rPr lang="en" sz="900">
                          <a:solidFill>
                            <a:srgbClr val="FF0000"/>
                          </a:solidFill>
                        </a:rPr>
                        <a:t>4</a:t>
                      </a:r>
                      <a:endParaRPr sz="900" u="none" cap="none" strike="noStrike">
                        <a:solidFill>
                          <a:srgbClr val="FF0000"/>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D1</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solidFill>
                            <a:srgbClr val="FF0000"/>
                          </a:solidFill>
                        </a:rPr>
                        <a:t>P2</a:t>
                      </a:r>
                      <a:endParaRPr sz="900" u="none" cap="none" strike="noStrike">
                        <a:solidFill>
                          <a:srgbClr val="FF0000"/>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solidFill>
                            <a:srgbClr val="FF0000"/>
                          </a:solidFill>
                        </a:rPr>
                        <a:t>P1</a:t>
                      </a:r>
                      <a:endParaRPr sz="900" u="none" cap="none" strike="noStrike">
                        <a:solidFill>
                          <a:srgbClr val="FF0000"/>
                        </a:solidFill>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chemeClr val="dk2"/>
                          </a:solidFill>
                        </a:rPr>
                        <a:t>Hamming Code Pattern</a:t>
                      </a:r>
                      <a:endParaRPr sz="900" u="none" cap="none" strike="noStrike">
                        <a:solidFill>
                          <a:schemeClr val="dk2"/>
                        </a:solidFill>
                      </a:endParaRPr>
                    </a:p>
                  </a:txBody>
                  <a:tcPr marT="91425" marB="91425" marR="91425" marL="91425" anchor="ctr"/>
                </a:tc>
              </a:tr>
            </a:tbl>
          </a:graphicData>
        </a:graphic>
      </p:graphicFrame>
      <p:graphicFrame>
        <p:nvGraphicFramePr>
          <p:cNvPr id="182" name="Google Shape;182;p14"/>
          <p:cNvGraphicFramePr/>
          <p:nvPr/>
        </p:nvGraphicFramePr>
        <p:xfrm>
          <a:off x="1313463" y="2816513"/>
          <a:ext cx="3000000" cy="3000000"/>
        </p:xfrm>
        <a:graphic>
          <a:graphicData uri="http://schemas.openxmlformats.org/drawingml/2006/table">
            <a:tbl>
              <a:tblPr>
                <a:noFill/>
                <a:tableStyleId>{06DCB670-B794-41FA-9D6C-3016EC5C60CC}</a:tableStyleId>
              </a:tblPr>
              <a:tblGrid>
                <a:gridCol w="441050"/>
                <a:gridCol w="441050"/>
                <a:gridCol w="441050"/>
                <a:gridCol w="441050"/>
                <a:gridCol w="441050"/>
                <a:gridCol w="441050"/>
                <a:gridCol w="441050"/>
                <a:gridCol w="441050"/>
                <a:gridCol w="441050"/>
                <a:gridCol w="441050"/>
                <a:gridCol w="441050"/>
                <a:gridCol w="1665525"/>
              </a:tblGrid>
              <a:tr h="381000">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t/>
                      </a:r>
                      <a:endParaRPr sz="900" u="none" cap="none" strike="noStrike"/>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t/>
                      </a:r>
                      <a:endParaRPr sz="900" u="none" cap="none" strike="noStrike"/>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t/>
                      </a:r>
                      <a:endParaRPr sz="900" u="none" cap="none" strike="noStrike"/>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t/>
                      </a:r>
                      <a:endParaRPr sz="900" u="none" cap="none" strike="noStrike"/>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a:solidFill>
                            <a:schemeClr val="dk2"/>
                          </a:solidFill>
                        </a:rPr>
                        <a:t>Original</a:t>
                      </a:r>
                      <a:r>
                        <a:rPr lang="en" sz="900" u="none" cap="none" strike="noStrike">
                          <a:solidFill>
                            <a:schemeClr val="dk2"/>
                          </a:solidFill>
                        </a:rPr>
                        <a:t> Data to be sent</a:t>
                      </a:r>
                      <a:endParaRPr sz="900" u="none" cap="none" strike="noStrike">
                        <a:solidFill>
                          <a:schemeClr val="dk2"/>
                        </a:solidFill>
                      </a:endParaRPr>
                    </a:p>
                  </a:txBody>
                  <a:tcPr marT="91425" marB="91425" marR="91425" marL="91425" anchor="ctr">
                    <a:lnB cap="flat" cmpd="sng" w="9525">
                      <a:solidFill>
                        <a:srgbClr val="9E9E9E"/>
                      </a:solidFill>
                      <a:prstDash val="solid"/>
                      <a:round/>
                      <a:headEnd len="sm" w="sm" type="none"/>
                      <a:tailEnd len="sm" w="sm" type="none"/>
                    </a:lnB>
                  </a:tcPr>
                </a:tc>
              </a:tr>
            </a:tbl>
          </a:graphicData>
        </a:graphic>
      </p:graphicFrame>
      <p:sp>
        <p:nvSpPr>
          <p:cNvPr id="183" name="Google Shape;183;p14"/>
          <p:cNvSpPr txBox="1"/>
          <p:nvPr/>
        </p:nvSpPr>
        <p:spPr>
          <a:xfrm>
            <a:off x="574500" y="3915175"/>
            <a:ext cx="79986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rgbClr val="FF0000"/>
                </a:solidFill>
                <a:latin typeface="Lato"/>
                <a:ea typeface="Lato"/>
                <a:cs typeface="Lato"/>
                <a:sym typeface="Lato"/>
              </a:rPr>
              <a:t>P1</a:t>
            </a:r>
            <a:r>
              <a:rPr lang="en" sz="1300">
                <a:solidFill>
                  <a:schemeClr val="accent1"/>
                </a:solidFill>
                <a:latin typeface="Lato"/>
                <a:ea typeface="Lato"/>
                <a:cs typeface="Lato"/>
                <a:sym typeface="Lato"/>
              </a:rPr>
              <a:t> : 3, 5, 7, 9, 11                     </a:t>
            </a:r>
            <a:r>
              <a:rPr lang="en" sz="1300">
                <a:solidFill>
                  <a:srgbClr val="FF0000"/>
                </a:solidFill>
                <a:latin typeface="Lato"/>
                <a:ea typeface="Lato"/>
                <a:cs typeface="Lato"/>
                <a:sym typeface="Lato"/>
              </a:rPr>
              <a:t>P2</a:t>
            </a:r>
            <a:r>
              <a:rPr lang="en" sz="1300">
                <a:solidFill>
                  <a:schemeClr val="accent1"/>
                </a:solidFill>
                <a:latin typeface="Lato"/>
                <a:ea typeface="Lato"/>
                <a:cs typeface="Lato"/>
                <a:sym typeface="Lato"/>
              </a:rPr>
              <a:t> : 3, 6, 7, 10, 11                   </a:t>
            </a:r>
            <a:r>
              <a:rPr lang="en" sz="1300">
                <a:solidFill>
                  <a:srgbClr val="FF0000"/>
                </a:solidFill>
                <a:latin typeface="Lato"/>
                <a:ea typeface="Lato"/>
                <a:cs typeface="Lato"/>
                <a:sym typeface="Lato"/>
              </a:rPr>
              <a:t>P4</a:t>
            </a:r>
            <a:r>
              <a:rPr lang="en" sz="1300">
                <a:solidFill>
                  <a:schemeClr val="accent1"/>
                </a:solidFill>
                <a:latin typeface="Lato"/>
                <a:ea typeface="Lato"/>
                <a:cs typeface="Lato"/>
                <a:sym typeface="Lato"/>
              </a:rPr>
              <a:t> : 5, 6, 7                                               </a:t>
            </a:r>
            <a:r>
              <a:rPr lang="en" sz="1300">
                <a:solidFill>
                  <a:srgbClr val="FF0000"/>
                </a:solidFill>
                <a:latin typeface="Lato"/>
                <a:ea typeface="Lato"/>
                <a:cs typeface="Lato"/>
                <a:sym typeface="Lato"/>
              </a:rPr>
              <a:t>P8</a:t>
            </a:r>
            <a:r>
              <a:rPr lang="en" sz="1300">
                <a:solidFill>
                  <a:schemeClr val="accent1"/>
                </a:solidFill>
                <a:latin typeface="Lato"/>
                <a:ea typeface="Lato"/>
                <a:cs typeface="Lato"/>
                <a:sym typeface="Lato"/>
              </a:rPr>
              <a:t> : 9, 10, 11</a:t>
            </a:r>
            <a:endParaRPr sz="1300">
              <a:solidFill>
                <a:schemeClr val="accent1"/>
              </a:solidFill>
              <a:latin typeface="Lato"/>
              <a:ea typeface="Lato"/>
              <a:cs typeface="Lato"/>
              <a:sym typeface="Lato"/>
            </a:endParaRPr>
          </a:p>
        </p:txBody>
      </p:sp>
      <p:sp>
        <p:nvSpPr>
          <p:cNvPr id="184" name="Google Shape;184;p14"/>
          <p:cNvSpPr txBox="1"/>
          <p:nvPr/>
        </p:nvSpPr>
        <p:spPr>
          <a:xfrm>
            <a:off x="5805750" y="2845475"/>
            <a:ext cx="264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1B1B1F"/>
                </a:solidFill>
              </a:rPr>
              <a:t>0</a:t>
            </a:r>
            <a:endParaRPr sz="900">
              <a:solidFill>
                <a:srgbClr val="1B1B1F"/>
              </a:solidFill>
            </a:endParaRPr>
          </a:p>
        </p:txBody>
      </p:sp>
      <p:sp>
        <p:nvSpPr>
          <p:cNvPr id="185" name="Google Shape;185;p14"/>
          <p:cNvSpPr txBox="1"/>
          <p:nvPr/>
        </p:nvSpPr>
        <p:spPr>
          <a:xfrm>
            <a:off x="5406265" y="2845475"/>
            <a:ext cx="264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1B1B1F"/>
                </a:solidFill>
              </a:rPr>
              <a:t>1</a:t>
            </a:r>
            <a:endParaRPr sz="900">
              <a:solidFill>
                <a:srgbClr val="1B1B1F"/>
              </a:solidFill>
            </a:endParaRPr>
          </a:p>
        </p:txBody>
      </p:sp>
      <p:sp>
        <p:nvSpPr>
          <p:cNvPr id="186" name="Google Shape;186;p14"/>
          <p:cNvSpPr txBox="1"/>
          <p:nvPr/>
        </p:nvSpPr>
        <p:spPr>
          <a:xfrm>
            <a:off x="4491715" y="2845475"/>
            <a:ext cx="264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1B1B1F"/>
                </a:solidFill>
              </a:rPr>
              <a:t>1</a:t>
            </a:r>
            <a:endParaRPr sz="900">
              <a:solidFill>
                <a:srgbClr val="1B1B1F"/>
              </a:solidFill>
            </a:endParaRPr>
          </a:p>
        </p:txBody>
      </p:sp>
      <p:sp>
        <p:nvSpPr>
          <p:cNvPr id="187" name="Google Shape;187;p14"/>
          <p:cNvSpPr txBox="1"/>
          <p:nvPr/>
        </p:nvSpPr>
        <p:spPr>
          <a:xfrm>
            <a:off x="2730940" y="2845475"/>
            <a:ext cx="264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1B1B1F"/>
                </a:solidFill>
              </a:rPr>
              <a:t>0</a:t>
            </a:r>
            <a:endParaRPr sz="900">
              <a:solidFill>
                <a:srgbClr val="1B1B1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0"/>
                                        </p:tgtEl>
                                        <p:attrNameLst>
                                          <p:attrName>style.visibility</p:attrName>
                                        </p:attrNameLst>
                                      </p:cBhvr>
                                      <p:to>
                                        <p:strVal val="visible"/>
                                      </p:to>
                                    </p:set>
                                    <p:anim calcmode="lin" valueType="num">
                                      <p:cBhvr additive="base">
                                        <p:cTn dur="1000"/>
                                        <p:tgtEl>
                                          <p:spTgt spid="18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bce6886561_0_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3: Error Detection</a:t>
            </a:r>
            <a:endParaRPr/>
          </a:p>
        </p:txBody>
      </p:sp>
      <p:sp>
        <p:nvSpPr>
          <p:cNvPr id="193" name="Google Shape;193;g3bce6886561_0_4"/>
          <p:cNvSpPr txBox="1"/>
          <p:nvPr>
            <p:ph idx="1" type="body"/>
          </p:nvPr>
        </p:nvSpPr>
        <p:spPr>
          <a:xfrm>
            <a:off x="470250" y="3925700"/>
            <a:ext cx="8203500" cy="3936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0"/>
              </a:spcAft>
              <a:buSzPct val="100000"/>
              <a:buNone/>
            </a:pPr>
            <a:r>
              <a:rPr lang="en">
                <a:solidFill>
                  <a:srgbClr val="FF0000"/>
                </a:solidFill>
              </a:rPr>
              <a:t>P1</a:t>
            </a:r>
            <a:r>
              <a:rPr lang="en"/>
              <a:t> : 3, 5, 7, 9, 11                           </a:t>
            </a:r>
            <a:r>
              <a:rPr lang="en">
                <a:solidFill>
                  <a:srgbClr val="FF0000"/>
                </a:solidFill>
              </a:rPr>
              <a:t>P2</a:t>
            </a:r>
            <a:r>
              <a:rPr lang="en"/>
              <a:t> : 3, 6, 7, 10, 11                                  </a:t>
            </a:r>
            <a:r>
              <a:rPr lang="en">
                <a:solidFill>
                  <a:srgbClr val="FF0000"/>
                </a:solidFill>
              </a:rPr>
              <a:t>P4</a:t>
            </a:r>
            <a:r>
              <a:rPr lang="en"/>
              <a:t> : 5, 6, 7                                      </a:t>
            </a:r>
            <a:r>
              <a:rPr lang="en">
                <a:solidFill>
                  <a:srgbClr val="FF0000"/>
                </a:solidFill>
              </a:rPr>
              <a:t>P8</a:t>
            </a:r>
            <a:r>
              <a:rPr lang="en"/>
              <a:t> : 9, 10, 11</a:t>
            </a:r>
            <a:endParaRPr/>
          </a:p>
        </p:txBody>
      </p:sp>
      <p:graphicFrame>
        <p:nvGraphicFramePr>
          <p:cNvPr id="194" name="Google Shape;194;g3bce6886561_0_4"/>
          <p:cNvGraphicFramePr/>
          <p:nvPr/>
        </p:nvGraphicFramePr>
        <p:xfrm>
          <a:off x="1313463" y="2058601"/>
          <a:ext cx="3000000" cy="3000000"/>
        </p:xfrm>
        <a:graphic>
          <a:graphicData uri="http://schemas.openxmlformats.org/drawingml/2006/table">
            <a:tbl>
              <a:tblPr>
                <a:noFill/>
                <a:tableStyleId>{06DCB670-B794-41FA-9D6C-3016EC5C60CC}</a:tableStyleId>
              </a:tblPr>
              <a:tblGrid>
                <a:gridCol w="441050"/>
                <a:gridCol w="441050"/>
                <a:gridCol w="441050"/>
                <a:gridCol w="441050"/>
                <a:gridCol w="441050"/>
                <a:gridCol w="441050"/>
                <a:gridCol w="441050"/>
                <a:gridCol w="441050"/>
                <a:gridCol w="441050"/>
                <a:gridCol w="441050"/>
                <a:gridCol w="441050"/>
                <a:gridCol w="1665525"/>
              </a:tblGrid>
              <a:tr h="367275">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11</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10</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9</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8</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7</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6</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5</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4</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3</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2</a:t>
                      </a:r>
                      <a:endParaRPr sz="9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solidFill>
                      <a:srgbClr val="D9D9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chemeClr val="dk2"/>
                          </a:solidFill>
                        </a:rPr>
                        <a:t>Bit Position</a:t>
                      </a:r>
                      <a:endParaRPr sz="900" u="none" cap="none" strike="noStrike">
                        <a:solidFill>
                          <a:schemeClr val="dk2"/>
                        </a:solidFill>
                      </a:endParaRPr>
                    </a:p>
                  </a:txBody>
                  <a:tcPr marT="91425" marB="91425" marR="91425" marL="91425" anchor="ctr">
                    <a:solidFill>
                      <a:srgbClr val="D9D9D9"/>
                    </a:solidFill>
                  </a:tcPr>
                </a:tc>
              </a:tr>
              <a:tr h="381000">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D7</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D6</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D5</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solidFill>
                            <a:srgbClr val="FF0000"/>
                          </a:solidFill>
                        </a:rPr>
                        <a:t>P</a:t>
                      </a:r>
                      <a:r>
                        <a:rPr lang="en" sz="900">
                          <a:solidFill>
                            <a:srgbClr val="FF0000"/>
                          </a:solidFill>
                        </a:rPr>
                        <a:t>8</a:t>
                      </a:r>
                      <a:endParaRPr sz="900" u="none" cap="none" strike="noStrike">
                        <a:solidFill>
                          <a:srgbClr val="FF0000"/>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D4</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D3</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D2</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solidFill>
                            <a:srgbClr val="FF0000"/>
                          </a:solidFill>
                        </a:rPr>
                        <a:t>P</a:t>
                      </a:r>
                      <a:r>
                        <a:rPr lang="en" sz="900">
                          <a:solidFill>
                            <a:srgbClr val="FF0000"/>
                          </a:solidFill>
                        </a:rPr>
                        <a:t>4</a:t>
                      </a:r>
                      <a:endParaRPr sz="900" u="none" cap="none" strike="noStrike">
                        <a:solidFill>
                          <a:srgbClr val="FF0000"/>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D1</a:t>
                      </a:r>
                      <a:endParaRPr sz="9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solidFill>
                            <a:srgbClr val="FF0000"/>
                          </a:solidFill>
                        </a:rPr>
                        <a:t>P2</a:t>
                      </a:r>
                      <a:endParaRPr sz="900" u="none" cap="none" strike="noStrike">
                        <a:solidFill>
                          <a:srgbClr val="FF0000"/>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solidFill>
                            <a:srgbClr val="FF0000"/>
                          </a:solidFill>
                        </a:rPr>
                        <a:t>P1</a:t>
                      </a:r>
                      <a:endParaRPr sz="900" u="none" cap="none" strike="noStrike">
                        <a:solidFill>
                          <a:srgbClr val="FF0000"/>
                        </a:solidFill>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chemeClr val="dk2"/>
                          </a:solidFill>
                        </a:rPr>
                        <a:t>Hamming Code Pattern</a:t>
                      </a:r>
                      <a:endParaRPr sz="900" u="none" cap="none" strike="noStrike">
                        <a:solidFill>
                          <a:schemeClr val="dk2"/>
                        </a:solidFill>
                      </a:endParaRPr>
                    </a:p>
                  </a:txBody>
                  <a:tcPr marT="91425" marB="91425" marR="91425" marL="91425" anchor="ctr"/>
                </a:tc>
              </a:tr>
              <a:tr h="381000">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B cap="flat" cmpd="sng" w="9525">
                      <a:solidFill>
                        <a:srgbClr val="9E9E9E"/>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B cap="flat" cmpd="sng" w="9525">
                      <a:solidFill>
                        <a:srgbClr val="9E9E9E"/>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B cap="flat" cmpd="sng" w="9525">
                      <a:solidFill>
                        <a:srgbClr val="9E9E9E"/>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B cap="flat" cmpd="sng" w="9525">
                      <a:solidFill>
                        <a:srgbClr val="9E9E9E"/>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B cap="flat" cmpd="sng" w="9525">
                      <a:solidFill>
                        <a:srgbClr val="9E9E9E"/>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B cap="flat" cmpd="sng" w="9525">
                      <a:solidFill>
                        <a:srgbClr val="9E9E9E"/>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B cap="flat" cmpd="sng" w="9525">
                      <a:solidFill>
                        <a:srgbClr val="9E9E9E"/>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B cap="flat" cmpd="sng" w="9525">
                      <a:solidFill>
                        <a:srgbClr val="9E9E9E"/>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B cap="flat" cmpd="sng" w="9525">
                      <a:solidFill>
                        <a:srgbClr val="9E9E9E"/>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B cap="flat" cmpd="sng" w="9525">
                      <a:solidFill>
                        <a:srgbClr val="9E9E9E"/>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B cap="flat" cmpd="sng" w="9525">
                      <a:solidFill>
                        <a:srgbClr val="9E9E9E"/>
                      </a:solidFill>
                      <a:prstDash val="solid"/>
                      <a:round/>
                      <a:headEnd len="sm" w="sm" type="none"/>
                      <a:tailEnd len="sm" w="sm" type="none"/>
                    </a:lnB>
                    <a:solidFill>
                      <a:srgbClr val="B6D7A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a:solidFill>
                            <a:schemeClr val="dk2"/>
                          </a:solidFill>
                        </a:rPr>
                        <a:t>Original</a:t>
                      </a:r>
                      <a:r>
                        <a:rPr lang="en" sz="900" u="none" cap="none" strike="noStrike">
                          <a:solidFill>
                            <a:schemeClr val="dk2"/>
                          </a:solidFill>
                        </a:rPr>
                        <a:t> Data to be sent</a:t>
                      </a:r>
                      <a:endParaRPr sz="900" u="none" cap="none" strike="noStrike">
                        <a:solidFill>
                          <a:schemeClr val="dk2"/>
                        </a:solidFill>
                      </a:endParaRPr>
                    </a:p>
                  </a:txBody>
                  <a:tcPr marT="91425" marB="91425" marR="91425" marL="91425" anchor="ctr">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1</a:t>
                      </a:r>
                      <a:endParaRPr sz="9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900" u="none" cap="none" strike="noStrike"/>
                        <a:t>0</a:t>
                      </a:r>
                      <a:endParaRPr sz="9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chemeClr val="dk2"/>
                          </a:solidFill>
                        </a:rPr>
                        <a:t>Transmitted data with error</a:t>
                      </a:r>
                      <a:endParaRPr sz="900" u="none" cap="none" strike="noStrike">
                        <a:solidFill>
                          <a:schemeClr val="dk2"/>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4: Error Correction</a:t>
            </a:r>
            <a:endParaRPr/>
          </a:p>
        </p:txBody>
      </p:sp>
      <p:graphicFrame>
        <p:nvGraphicFramePr>
          <p:cNvPr id="200" name="Google Shape;200;p15"/>
          <p:cNvGraphicFramePr/>
          <p:nvPr/>
        </p:nvGraphicFramePr>
        <p:xfrm>
          <a:off x="1103275" y="2931075"/>
          <a:ext cx="3000000" cy="3000000"/>
        </p:xfrm>
        <a:graphic>
          <a:graphicData uri="http://schemas.openxmlformats.org/drawingml/2006/table">
            <a:tbl>
              <a:tblPr>
                <a:noFill/>
                <a:tableStyleId>{06DCB670-B794-41FA-9D6C-3016EC5C60CC}</a:tableStyleId>
              </a:tblPr>
              <a:tblGrid>
                <a:gridCol w="3079150"/>
                <a:gridCol w="1673325"/>
                <a:gridCol w="1673325"/>
              </a:tblGrid>
              <a:tr h="39077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3,5,7,</a:t>
                      </a:r>
                      <a:r>
                        <a:rPr lang="en" sz="1400" u="none" cap="none" strike="noStrike">
                          <a:highlight>
                            <a:srgbClr val="F4CCCC"/>
                          </a:highlight>
                        </a:rPr>
                        <a:t>9,11</a:t>
                      </a:r>
                      <a:endParaRPr sz="1400" u="none" cap="none" strike="noStrike">
                        <a:highlight>
                          <a:srgbClr val="F4CCCC"/>
                        </a:highlight>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P1</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nchor="ctr">
                    <a:solidFill>
                      <a:srgbClr val="F4CCCC"/>
                    </a:solidFill>
                  </a:tcPr>
                </a:tc>
              </a:tr>
              <a:tr h="39077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3,6,7,</a:t>
                      </a:r>
                      <a:r>
                        <a:rPr lang="en" sz="1400" u="none" cap="none" strike="noStrike">
                          <a:highlight>
                            <a:srgbClr val="00FF00"/>
                          </a:highlight>
                        </a:rPr>
                        <a:t>10,11</a:t>
                      </a:r>
                      <a:endParaRPr sz="1400" u="none" cap="none" strike="noStrike">
                        <a:highlight>
                          <a:srgbClr val="00FF00"/>
                        </a:highlight>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P2</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nchor="ctr"/>
                </a:tc>
              </a:tr>
              <a:tr h="39077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5,6,7</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P</a:t>
                      </a:r>
                      <a:r>
                        <a:rPr lang="en"/>
                        <a:t>4</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nchor="ctr"/>
                </a:tc>
              </a:tr>
              <a:tr h="39077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highlight>
                            <a:srgbClr val="F4CCCC"/>
                          </a:highlight>
                        </a:rPr>
                        <a:t>9,10,11</a:t>
                      </a:r>
                      <a:endParaRPr sz="1400" u="none" cap="none" strike="noStrike">
                        <a:highlight>
                          <a:srgbClr val="F4CCCC"/>
                        </a:highlight>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P</a:t>
                      </a:r>
                      <a:r>
                        <a:rPr lang="en"/>
                        <a:t>8</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nchor="ctr">
                    <a:solidFill>
                      <a:srgbClr val="F4CCCC"/>
                    </a:solidFill>
                  </a:tcPr>
                </a:tc>
              </a:tr>
            </a:tbl>
          </a:graphicData>
        </a:graphic>
      </p:graphicFrame>
      <p:graphicFrame>
        <p:nvGraphicFramePr>
          <p:cNvPr id="201" name="Google Shape;201;p15"/>
          <p:cNvGraphicFramePr/>
          <p:nvPr/>
        </p:nvGraphicFramePr>
        <p:xfrm>
          <a:off x="346013" y="1889375"/>
          <a:ext cx="3000000" cy="3000000"/>
        </p:xfrm>
        <a:graphic>
          <a:graphicData uri="http://schemas.openxmlformats.org/drawingml/2006/table">
            <a:tbl>
              <a:tblPr>
                <a:noFill/>
                <a:tableStyleId>{06DCB670-B794-41FA-9D6C-3016EC5C60CC}</a:tableStyleId>
              </a:tblPr>
              <a:tblGrid>
                <a:gridCol w="1625925"/>
                <a:gridCol w="620875"/>
                <a:gridCol w="620875"/>
                <a:gridCol w="620875"/>
                <a:gridCol w="620875"/>
                <a:gridCol w="620875"/>
                <a:gridCol w="620875"/>
                <a:gridCol w="620875"/>
                <a:gridCol w="620875"/>
                <a:gridCol w="620875"/>
                <a:gridCol w="620875"/>
                <a:gridCol w="620875"/>
              </a:tblGrid>
              <a:tr h="381000">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Bit Position</a:t>
                      </a:r>
                      <a:endParaRPr sz="11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11</a:t>
                      </a:r>
                      <a:endParaRPr sz="1100" u="none" cap="none" strike="noStrike"/>
                    </a:p>
                  </a:txBody>
                  <a:tcPr marT="91425"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10</a:t>
                      </a:r>
                      <a:endParaRPr sz="1100" u="none" cap="none" strike="noStrike"/>
                    </a:p>
                  </a:txBody>
                  <a:tcPr marT="91425"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9</a:t>
                      </a:r>
                      <a:endParaRPr sz="1100" u="none" cap="none" strike="noStrike"/>
                    </a:p>
                  </a:txBody>
                  <a:tcPr marT="91425"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P</a:t>
                      </a:r>
                      <a:r>
                        <a:rPr lang="en" sz="1100"/>
                        <a:t>8</a:t>
                      </a:r>
                      <a:br>
                        <a:rPr lang="en" sz="1100" u="none" cap="none" strike="noStrike"/>
                      </a:br>
                      <a:r>
                        <a:rPr lang="en" sz="1100" u="none" cap="none" strike="noStrike"/>
                        <a:t>8</a:t>
                      </a:r>
                      <a:endParaRPr sz="1100" u="none" cap="none" strike="noStrike"/>
                    </a:p>
                  </a:txBody>
                  <a:tcPr marT="91425"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7</a:t>
                      </a:r>
                      <a:endParaRPr sz="1100" u="none" cap="none" strike="noStrike"/>
                    </a:p>
                  </a:txBody>
                  <a:tcPr marT="91425"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6</a:t>
                      </a:r>
                      <a:endParaRPr sz="1100" u="none" cap="none" strike="noStrike"/>
                    </a:p>
                  </a:txBody>
                  <a:tcPr marT="91425"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5</a:t>
                      </a:r>
                      <a:endParaRPr sz="1100" u="none" cap="none" strike="noStrike"/>
                    </a:p>
                  </a:txBody>
                  <a:tcPr marT="91425"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P</a:t>
                      </a:r>
                      <a:r>
                        <a:rPr lang="en" sz="1100"/>
                        <a:t>4</a:t>
                      </a:r>
                      <a:br>
                        <a:rPr lang="en" sz="1100" u="none" cap="none" strike="noStrike"/>
                      </a:br>
                      <a:r>
                        <a:rPr lang="en" sz="1100" u="none" cap="none" strike="noStrike"/>
                        <a:t>4</a:t>
                      </a:r>
                      <a:endParaRPr sz="1100" u="none" cap="none" strike="noStrike"/>
                    </a:p>
                  </a:txBody>
                  <a:tcPr marT="91425"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3</a:t>
                      </a:r>
                      <a:endParaRPr sz="1100" u="none" cap="none" strike="noStrike"/>
                    </a:p>
                  </a:txBody>
                  <a:tcPr marT="91425"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P2</a:t>
                      </a:r>
                      <a:br>
                        <a:rPr lang="en" sz="1100" u="none" cap="none" strike="noStrike"/>
                      </a:br>
                      <a:r>
                        <a:rPr lang="en" sz="1100" u="none" cap="none" strike="noStrike"/>
                        <a:t>2</a:t>
                      </a:r>
                      <a:endParaRPr sz="1100" u="none" cap="none" strike="noStrike"/>
                    </a:p>
                  </a:txBody>
                  <a:tcPr marT="91425"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P1</a:t>
                      </a:r>
                      <a:br>
                        <a:rPr lang="en" sz="1100" u="none" cap="none" strike="noStrike"/>
                      </a:br>
                      <a:r>
                        <a:rPr lang="en" sz="1100" u="none" cap="none" strike="noStrike"/>
                        <a:t>1</a:t>
                      </a:r>
                      <a:endParaRPr sz="1100" u="none" cap="none" strike="noStrike"/>
                    </a:p>
                  </a:txBody>
                  <a:tcPr marT="91425" marB="91425" marR="91425" marL="9142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Data Received</a:t>
                      </a:r>
                      <a:endParaRPr sz="11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1</a:t>
                      </a:r>
                      <a:endParaRPr sz="11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0</a:t>
                      </a:r>
                      <a:endParaRPr sz="11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0</a:t>
                      </a:r>
                      <a:endParaRPr sz="11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0</a:t>
                      </a:r>
                      <a:endParaRPr sz="11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1</a:t>
                      </a:r>
                      <a:endParaRPr sz="11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0</a:t>
                      </a:r>
                      <a:endParaRPr sz="11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0</a:t>
                      </a:r>
                      <a:endParaRPr sz="11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1</a:t>
                      </a:r>
                      <a:endParaRPr sz="11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1</a:t>
                      </a:r>
                      <a:endParaRPr sz="11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1</a:t>
                      </a:r>
                      <a:endParaRPr sz="11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0</a:t>
                      </a:r>
                      <a:endParaRPr sz="1100" u="none" cap="none" strike="noStrike"/>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c7205cde05_0_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940"/>
              <a:t>Hamming Weight</a:t>
            </a:r>
            <a:endParaRPr sz="1940"/>
          </a:p>
        </p:txBody>
      </p:sp>
      <p:sp>
        <p:nvSpPr>
          <p:cNvPr id="207" name="Google Shape;207;g3c7205cde05_0_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a:t>
            </a:r>
            <a:r>
              <a:rPr b="1" lang="en"/>
              <a:t>Hamming weight </a:t>
            </a:r>
            <a:r>
              <a:rPr lang="en"/>
              <a:t>of a codeword is equal to the number of non-zero elements in the codeword.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Hamming weight of a codeword c is denoted by </a:t>
            </a:r>
            <a:r>
              <a:rPr b="1" lang="en"/>
              <a:t>w(c).</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sz="1350">
                <a:solidFill>
                  <a:srgbClr val="273239"/>
                </a:solidFill>
                <a:highlight>
                  <a:srgbClr val="FFFFFF"/>
                </a:highlight>
                <a:latin typeface="Nunito"/>
                <a:ea typeface="Nunito"/>
                <a:cs typeface="Nunito"/>
                <a:sym typeface="Nunito"/>
              </a:rPr>
              <a:t>w(0100)</a:t>
            </a:r>
            <a:r>
              <a:rPr lang="en" sz="1350">
                <a:solidFill>
                  <a:srgbClr val="273239"/>
                </a:solidFill>
                <a:highlight>
                  <a:srgbClr val="FFFFFF"/>
                </a:highlight>
                <a:latin typeface="Nunito"/>
                <a:ea typeface="Nunito"/>
                <a:cs typeface="Nunito"/>
                <a:sym typeface="Nunito"/>
              </a:rPr>
              <a:t>=1 and </a:t>
            </a:r>
            <a:r>
              <a:rPr b="1" lang="en" sz="1350">
                <a:solidFill>
                  <a:srgbClr val="273239"/>
                </a:solidFill>
                <a:highlight>
                  <a:srgbClr val="FFFFFF"/>
                </a:highlight>
                <a:latin typeface="Nunito"/>
                <a:ea typeface="Nunito"/>
                <a:cs typeface="Nunito"/>
                <a:sym typeface="Nunito"/>
              </a:rPr>
              <a:t>w(1111)</a:t>
            </a:r>
            <a:r>
              <a:rPr lang="en" sz="1350">
                <a:solidFill>
                  <a:srgbClr val="273239"/>
                </a:solidFill>
                <a:highlight>
                  <a:srgbClr val="FFFFFF"/>
                </a:highlight>
                <a:latin typeface="Nunito"/>
                <a:ea typeface="Nunito"/>
                <a:cs typeface="Nunito"/>
                <a:sym typeface="Nunito"/>
              </a:rPr>
              <a:t>=4</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c7205cde05_0_9"/>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40"/>
              <a:t> Hamming Distance</a:t>
            </a:r>
            <a:endParaRPr/>
          </a:p>
        </p:txBody>
      </p:sp>
      <p:sp>
        <p:nvSpPr>
          <p:cNvPr id="213" name="Google Shape;213;g3c7205cde05_0_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50">
                <a:solidFill>
                  <a:srgbClr val="273239"/>
                </a:solidFill>
                <a:highlight>
                  <a:srgbClr val="FFFFFF"/>
                </a:highlight>
                <a:latin typeface="Nunito"/>
                <a:ea typeface="Nunito"/>
                <a:cs typeface="Nunito"/>
                <a:sym typeface="Nunito"/>
              </a:rPr>
              <a:t>Hamming distance between two codewords is the number of places by which the codewords differ. For two codes </a:t>
            </a:r>
            <a:r>
              <a:rPr b="1" lang="en" sz="1350">
                <a:solidFill>
                  <a:srgbClr val="273239"/>
                </a:solidFill>
                <a:highlight>
                  <a:srgbClr val="FFFFFF"/>
                </a:highlight>
                <a:latin typeface="Nunito"/>
                <a:ea typeface="Nunito"/>
                <a:cs typeface="Nunito"/>
                <a:sym typeface="Nunito"/>
              </a:rPr>
              <a:t>c</a:t>
            </a:r>
            <a:r>
              <a:rPr b="1" lang="en" sz="1000">
                <a:solidFill>
                  <a:srgbClr val="273239"/>
                </a:solidFill>
                <a:highlight>
                  <a:srgbClr val="FFFFFF"/>
                </a:highlight>
                <a:latin typeface="Nunito"/>
                <a:ea typeface="Nunito"/>
                <a:cs typeface="Nunito"/>
                <a:sym typeface="Nunito"/>
              </a:rPr>
              <a:t>1</a:t>
            </a:r>
            <a:r>
              <a:rPr b="1" lang="en" sz="1350">
                <a:solidFill>
                  <a:srgbClr val="273239"/>
                </a:solidFill>
                <a:highlight>
                  <a:srgbClr val="FFFFFF"/>
                </a:highlight>
                <a:latin typeface="Nunito"/>
                <a:ea typeface="Nunito"/>
                <a:cs typeface="Nunito"/>
                <a:sym typeface="Nunito"/>
              </a:rPr>
              <a:t> </a:t>
            </a:r>
            <a:r>
              <a:rPr lang="en" sz="1350">
                <a:solidFill>
                  <a:srgbClr val="273239"/>
                </a:solidFill>
                <a:highlight>
                  <a:srgbClr val="FFFFFF"/>
                </a:highlight>
                <a:latin typeface="Nunito"/>
                <a:ea typeface="Nunito"/>
                <a:cs typeface="Nunito"/>
                <a:sym typeface="Nunito"/>
              </a:rPr>
              <a:t>and </a:t>
            </a:r>
            <a:r>
              <a:rPr b="1" lang="en" sz="1350">
                <a:solidFill>
                  <a:srgbClr val="273239"/>
                </a:solidFill>
                <a:highlight>
                  <a:srgbClr val="FFFFFF"/>
                </a:highlight>
                <a:latin typeface="Nunito"/>
                <a:ea typeface="Nunito"/>
                <a:cs typeface="Nunito"/>
                <a:sym typeface="Nunito"/>
              </a:rPr>
              <a:t>c</a:t>
            </a:r>
            <a:r>
              <a:rPr b="1" lang="en" sz="1000">
                <a:solidFill>
                  <a:srgbClr val="273239"/>
                </a:solidFill>
                <a:highlight>
                  <a:srgbClr val="FFFFFF"/>
                </a:highlight>
                <a:latin typeface="Nunito"/>
                <a:ea typeface="Nunito"/>
                <a:cs typeface="Nunito"/>
                <a:sym typeface="Nunito"/>
              </a:rPr>
              <a:t>2</a:t>
            </a:r>
            <a:r>
              <a:rPr lang="en" sz="1350">
                <a:solidFill>
                  <a:srgbClr val="273239"/>
                </a:solidFill>
                <a:highlight>
                  <a:srgbClr val="FFFFFF"/>
                </a:highlight>
                <a:latin typeface="Nunito"/>
                <a:ea typeface="Nunito"/>
                <a:cs typeface="Nunito"/>
                <a:sym typeface="Nunito"/>
              </a:rPr>
              <a:t>, the hamming distance is denoted as </a:t>
            </a:r>
            <a:r>
              <a:rPr b="1" i="1" lang="en" sz="1350">
                <a:solidFill>
                  <a:srgbClr val="273239"/>
                </a:solidFill>
                <a:highlight>
                  <a:srgbClr val="FFFFFF"/>
                </a:highlight>
                <a:latin typeface="Nunito"/>
                <a:ea typeface="Nunito"/>
                <a:cs typeface="Nunito"/>
                <a:sym typeface="Nunito"/>
              </a:rPr>
              <a:t>d(c</a:t>
            </a:r>
            <a:r>
              <a:rPr b="1" i="1" lang="en" sz="1000">
                <a:solidFill>
                  <a:srgbClr val="273239"/>
                </a:solidFill>
                <a:highlight>
                  <a:srgbClr val="FFFFFF"/>
                </a:highlight>
                <a:latin typeface="Nunito"/>
                <a:ea typeface="Nunito"/>
                <a:cs typeface="Nunito"/>
                <a:sym typeface="Nunito"/>
              </a:rPr>
              <a:t>1 </a:t>
            </a:r>
            <a:r>
              <a:rPr b="1" i="1" lang="en" sz="1350">
                <a:solidFill>
                  <a:srgbClr val="273239"/>
                </a:solidFill>
                <a:highlight>
                  <a:srgbClr val="FFFFFF"/>
                </a:highlight>
                <a:latin typeface="Nunito"/>
                <a:ea typeface="Nunito"/>
                <a:cs typeface="Nunito"/>
                <a:sym typeface="Nunito"/>
              </a:rPr>
              <a:t>,c</a:t>
            </a:r>
            <a:r>
              <a:rPr b="1" i="1" lang="en" sz="1000">
                <a:solidFill>
                  <a:srgbClr val="273239"/>
                </a:solidFill>
                <a:highlight>
                  <a:srgbClr val="FFFFFF"/>
                </a:highlight>
                <a:latin typeface="Nunito"/>
                <a:ea typeface="Nunito"/>
                <a:cs typeface="Nunito"/>
                <a:sym typeface="Nunito"/>
              </a:rPr>
              <a:t>2</a:t>
            </a:r>
            <a:r>
              <a:rPr b="1" i="1" lang="en" sz="1350">
                <a:solidFill>
                  <a:srgbClr val="273239"/>
                </a:solidFill>
                <a:highlight>
                  <a:srgbClr val="FFFFFF"/>
                </a:highlight>
                <a:latin typeface="Nunito"/>
                <a:ea typeface="Nunito"/>
                <a:cs typeface="Nunito"/>
                <a:sym typeface="Nunito"/>
              </a:rPr>
              <a:t>)</a:t>
            </a:r>
            <a:endParaRPr b="1" i="1" sz="1350">
              <a:solidFill>
                <a:srgbClr val="273239"/>
              </a:solidFill>
              <a:highlight>
                <a:srgbClr val="FFFFFF"/>
              </a:highlight>
              <a:latin typeface="Nunito"/>
              <a:ea typeface="Nunito"/>
              <a:cs typeface="Nunito"/>
              <a:sym typeface="Nunito"/>
            </a:endParaRPr>
          </a:p>
          <a:p>
            <a:pPr indent="0" lvl="0" marL="0" rtl="0" algn="l">
              <a:spcBef>
                <a:spcPts val="0"/>
              </a:spcBef>
              <a:spcAft>
                <a:spcPts val="0"/>
              </a:spcAft>
              <a:buNone/>
            </a:pPr>
            <a:r>
              <a:t/>
            </a:r>
            <a:endParaRPr b="1" i="1" sz="1350">
              <a:solidFill>
                <a:srgbClr val="273239"/>
              </a:solidFill>
              <a:highlight>
                <a:srgbClr val="FFFFFF"/>
              </a:highlight>
              <a:latin typeface="Nunito"/>
              <a:ea typeface="Nunito"/>
              <a:cs typeface="Nunito"/>
              <a:sym typeface="Nunito"/>
            </a:endParaRPr>
          </a:p>
          <a:p>
            <a:pPr indent="0" lvl="0" marL="0" rtl="0" algn="l">
              <a:spcBef>
                <a:spcPts val="0"/>
              </a:spcBef>
              <a:spcAft>
                <a:spcPts val="0"/>
              </a:spcAft>
              <a:buNone/>
            </a:pPr>
            <a:r>
              <a:rPr b="1" lang="en" sz="1350">
                <a:solidFill>
                  <a:srgbClr val="273239"/>
                </a:solidFill>
                <a:highlight>
                  <a:srgbClr val="FFFFFF"/>
                </a:highlight>
                <a:latin typeface="Nunito"/>
                <a:ea typeface="Nunito"/>
                <a:cs typeface="Nunito"/>
                <a:sym typeface="Nunito"/>
              </a:rPr>
              <a:t>E.g.: c1 ⊕ c2 ⇒ 0100 ⊕ 1111 ⇒ 1011. The XOR operator gives result 3 as there are three 1s obtained after XORing of 0s and 1s. </a:t>
            </a:r>
            <a:endParaRPr b="1"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c7205cde05_0_18"/>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40"/>
              <a:t>M</a:t>
            </a:r>
            <a:r>
              <a:rPr lang="en" sz="1940"/>
              <a:t>in. Hamming Distance</a:t>
            </a:r>
            <a:endParaRPr/>
          </a:p>
        </p:txBody>
      </p:sp>
      <p:sp>
        <p:nvSpPr>
          <p:cNvPr id="219" name="Google Shape;219;g3c7205cde05_0_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just">
              <a:lnSpc>
                <a:spcPct val="120000"/>
              </a:lnSpc>
              <a:spcBef>
                <a:spcPts val="0"/>
              </a:spcBef>
              <a:spcAft>
                <a:spcPts val="0"/>
              </a:spcAft>
              <a:buNone/>
            </a:pPr>
            <a:r>
              <a:rPr lang="en" sz="1350">
                <a:solidFill>
                  <a:srgbClr val="273239"/>
                </a:solidFill>
                <a:highlight>
                  <a:srgbClr val="FFFFFF"/>
                </a:highlight>
                <a:latin typeface="Nunito"/>
                <a:ea typeface="Nunito"/>
                <a:cs typeface="Nunito"/>
                <a:sym typeface="Nunito"/>
              </a:rPr>
              <a:t>For two codewords of same length, it is define as the </a:t>
            </a:r>
            <a:r>
              <a:rPr i="1" lang="en" sz="1350" u="sng">
                <a:solidFill>
                  <a:srgbClr val="273239"/>
                </a:solidFill>
                <a:highlight>
                  <a:srgbClr val="FFFFFF"/>
                </a:highlight>
                <a:latin typeface="Nunito"/>
                <a:ea typeface="Nunito"/>
                <a:cs typeface="Nunito"/>
                <a:sym typeface="Nunito"/>
              </a:rPr>
              <a:t>minimum or smallest hamming distance between the two codewords</a:t>
            </a:r>
            <a:r>
              <a:rPr lang="en" sz="1350">
                <a:solidFill>
                  <a:srgbClr val="273239"/>
                </a:solidFill>
                <a:highlight>
                  <a:srgbClr val="FFFFFF"/>
                </a:highlight>
                <a:latin typeface="Nunito"/>
                <a:ea typeface="Nunito"/>
                <a:cs typeface="Nunito"/>
                <a:sym typeface="Nunito"/>
              </a:rPr>
              <a:t>. It is calculated by counting the number of positions in which the corresponding symbols are different. It is denoted by </a:t>
            </a:r>
            <a:r>
              <a:rPr b="1" i="1" lang="en" sz="1350">
                <a:solidFill>
                  <a:srgbClr val="273239"/>
                </a:solidFill>
                <a:highlight>
                  <a:srgbClr val="FFFFFF"/>
                </a:highlight>
                <a:latin typeface="Nunito"/>
                <a:ea typeface="Nunito"/>
                <a:cs typeface="Nunito"/>
                <a:sym typeface="Nunito"/>
              </a:rPr>
              <a:t>d*</a:t>
            </a:r>
            <a:r>
              <a:rPr lang="en" sz="1350">
                <a:solidFill>
                  <a:srgbClr val="273239"/>
                </a:solidFill>
                <a:highlight>
                  <a:srgbClr val="FFFFFF"/>
                </a:highlight>
                <a:latin typeface="Nunito"/>
                <a:ea typeface="Nunito"/>
                <a:cs typeface="Nunito"/>
                <a:sym typeface="Nunito"/>
              </a:rPr>
              <a:t> or </a:t>
            </a:r>
            <a:r>
              <a:rPr b="1" i="1" lang="en" sz="1350">
                <a:solidFill>
                  <a:srgbClr val="273239"/>
                </a:solidFill>
                <a:highlight>
                  <a:srgbClr val="FFFFFF"/>
                </a:highlight>
                <a:latin typeface="Nunito"/>
                <a:ea typeface="Nunito"/>
                <a:cs typeface="Nunito"/>
                <a:sym typeface="Nunito"/>
              </a:rPr>
              <a:t>d</a:t>
            </a:r>
            <a:r>
              <a:rPr b="1" i="1" lang="en" sz="1000">
                <a:solidFill>
                  <a:srgbClr val="273239"/>
                </a:solidFill>
                <a:highlight>
                  <a:srgbClr val="FFFFFF"/>
                </a:highlight>
                <a:latin typeface="Nunito"/>
                <a:ea typeface="Nunito"/>
                <a:cs typeface="Nunito"/>
                <a:sym typeface="Nunito"/>
              </a:rPr>
              <a:t>min.</a:t>
            </a:r>
            <a:endParaRPr b="1" i="1" sz="1000">
              <a:solidFill>
                <a:srgbClr val="273239"/>
              </a:solidFill>
              <a:highlight>
                <a:srgbClr val="FFFFFF"/>
              </a:highlight>
              <a:latin typeface="Nunito"/>
              <a:ea typeface="Nunito"/>
              <a:cs typeface="Nunito"/>
              <a:sym typeface="Nunito"/>
            </a:endParaRPr>
          </a:p>
          <a:p>
            <a:pPr indent="0" lvl="0" marL="0" rtl="0" algn="just">
              <a:lnSpc>
                <a:spcPct val="120000"/>
              </a:lnSpc>
              <a:spcBef>
                <a:spcPts val="800"/>
              </a:spcBef>
              <a:spcAft>
                <a:spcPts val="0"/>
              </a:spcAft>
              <a:buNone/>
            </a:pPr>
            <a:r>
              <a:t/>
            </a:r>
            <a:endParaRPr b="1" i="1" sz="1000">
              <a:solidFill>
                <a:srgbClr val="273239"/>
              </a:solidFill>
              <a:highlight>
                <a:srgbClr val="FFFFFF"/>
              </a:highlight>
              <a:latin typeface="Nunito"/>
              <a:ea typeface="Nunito"/>
              <a:cs typeface="Nunito"/>
              <a:sym typeface="Nunito"/>
            </a:endParaRPr>
          </a:p>
          <a:p>
            <a:pPr indent="0" lvl="0" marL="0" rtl="0" algn="just">
              <a:lnSpc>
                <a:spcPct val="120000"/>
              </a:lnSpc>
              <a:spcBef>
                <a:spcPts val="800"/>
              </a:spcBef>
              <a:spcAft>
                <a:spcPts val="0"/>
              </a:spcAft>
              <a:buNone/>
            </a:pPr>
            <a:r>
              <a:rPr lang="en" sz="1350">
                <a:solidFill>
                  <a:srgbClr val="273239"/>
                </a:solidFill>
                <a:highlight>
                  <a:srgbClr val="FFFFFF"/>
                </a:highlight>
                <a:latin typeface="Nunito"/>
                <a:ea typeface="Nunito"/>
                <a:cs typeface="Nunito"/>
                <a:sym typeface="Nunito"/>
              </a:rPr>
              <a:t>E.g.: consider four codewords as: </a:t>
            </a:r>
            <a:r>
              <a:rPr b="1" lang="en" sz="1350">
                <a:solidFill>
                  <a:srgbClr val="273239"/>
                </a:solidFill>
                <a:highlight>
                  <a:srgbClr val="FFFFFF"/>
                </a:highlight>
                <a:latin typeface="Nunito"/>
                <a:ea typeface="Nunito"/>
                <a:cs typeface="Nunito"/>
                <a:sym typeface="Nunito"/>
              </a:rPr>
              <a:t>c</a:t>
            </a:r>
            <a:r>
              <a:rPr b="1" lang="en" sz="1000">
                <a:solidFill>
                  <a:srgbClr val="273239"/>
                </a:solidFill>
                <a:highlight>
                  <a:srgbClr val="FFFFFF"/>
                </a:highlight>
                <a:latin typeface="Nunito"/>
                <a:ea typeface="Nunito"/>
                <a:cs typeface="Nunito"/>
                <a:sym typeface="Nunito"/>
              </a:rPr>
              <a:t>1</a:t>
            </a:r>
            <a:r>
              <a:rPr b="1" lang="en" sz="1350">
                <a:solidFill>
                  <a:srgbClr val="273239"/>
                </a:solidFill>
                <a:highlight>
                  <a:srgbClr val="FFFFFF"/>
                </a:highlight>
                <a:latin typeface="Nunito"/>
                <a:ea typeface="Nunito"/>
                <a:cs typeface="Nunito"/>
                <a:sym typeface="Nunito"/>
              </a:rPr>
              <a:t>=010, c</a:t>
            </a:r>
            <a:r>
              <a:rPr b="1" lang="en" sz="1000">
                <a:solidFill>
                  <a:srgbClr val="273239"/>
                </a:solidFill>
                <a:highlight>
                  <a:srgbClr val="FFFFFF"/>
                </a:highlight>
                <a:latin typeface="Nunito"/>
                <a:ea typeface="Nunito"/>
                <a:cs typeface="Nunito"/>
                <a:sym typeface="Nunito"/>
              </a:rPr>
              <a:t>2</a:t>
            </a:r>
            <a:r>
              <a:rPr b="1" lang="en" sz="1350">
                <a:solidFill>
                  <a:srgbClr val="273239"/>
                </a:solidFill>
                <a:highlight>
                  <a:srgbClr val="FFFFFF"/>
                </a:highlight>
                <a:latin typeface="Nunito"/>
                <a:ea typeface="Nunito"/>
                <a:cs typeface="Nunito"/>
                <a:sym typeface="Nunito"/>
              </a:rPr>
              <a:t>=011, c</a:t>
            </a:r>
            <a:r>
              <a:rPr b="1" lang="en" sz="1000">
                <a:solidFill>
                  <a:srgbClr val="273239"/>
                </a:solidFill>
                <a:highlight>
                  <a:srgbClr val="FFFFFF"/>
                </a:highlight>
                <a:latin typeface="Nunito"/>
                <a:ea typeface="Nunito"/>
                <a:cs typeface="Nunito"/>
                <a:sym typeface="Nunito"/>
              </a:rPr>
              <a:t>3</a:t>
            </a:r>
            <a:r>
              <a:rPr b="1" lang="en" sz="1350">
                <a:solidFill>
                  <a:srgbClr val="273239"/>
                </a:solidFill>
                <a:highlight>
                  <a:srgbClr val="FFFFFF"/>
                </a:highlight>
                <a:latin typeface="Nunito"/>
                <a:ea typeface="Nunito"/>
                <a:cs typeface="Nunito"/>
                <a:sym typeface="Nunito"/>
              </a:rPr>
              <a:t>=111, c</a:t>
            </a:r>
            <a:r>
              <a:rPr b="1" lang="en" sz="1000">
                <a:solidFill>
                  <a:srgbClr val="273239"/>
                </a:solidFill>
                <a:highlight>
                  <a:srgbClr val="FFFFFF"/>
                </a:highlight>
                <a:latin typeface="Nunito"/>
                <a:ea typeface="Nunito"/>
                <a:cs typeface="Nunito"/>
                <a:sym typeface="Nunito"/>
              </a:rPr>
              <a:t>4</a:t>
            </a:r>
            <a:r>
              <a:rPr b="1" lang="en" sz="1350">
                <a:solidFill>
                  <a:srgbClr val="273239"/>
                </a:solidFill>
                <a:highlight>
                  <a:srgbClr val="FFFFFF"/>
                </a:highlight>
                <a:latin typeface="Nunito"/>
                <a:ea typeface="Nunito"/>
                <a:cs typeface="Nunito"/>
                <a:sym typeface="Nunito"/>
              </a:rPr>
              <a:t>=101</a:t>
            </a:r>
            <a:r>
              <a:rPr lang="en" sz="1350">
                <a:solidFill>
                  <a:srgbClr val="273239"/>
                </a:solidFill>
                <a:highlight>
                  <a:srgbClr val="FFFFFF"/>
                </a:highlight>
                <a:latin typeface="Nunito"/>
                <a:ea typeface="Nunito"/>
                <a:cs typeface="Nunito"/>
                <a:sym typeface="Nunito"/>
              </a:rPr>
              <a:t>. The hamming distance between codewords is:</a:t>
            </a:r>
            <a:endParaRPr b="1" i="1" sz="1000">
              <a:solidFill>
                <a:srgbClr val="000000"/>
              </a:solidFill>
              <a:latin typeface="Arial"/>
              <a:ea typeface="Arial"/>
              <a:cs typeface="Arial"/>
              <a:sym typeface="Arial"/>
            </a:endParaRPr>
          </a:p>
          <a:p>
            <a:pPr indent="0" lvl="0" marL="0" rtl="0" algn="l">
              <a:spcBef>
                <a:spcPts val="8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c7205cde05_0_25"/>
          <p:cNvSpPr txBox="1"/>
          <p:nvPr>
            <p:ph idx="1" type="body"/>
          </p:nvPr>
        </p:nvSpPr>
        <p:spPr>
          <a:xfrm>
            <a:off x="780950" y="1318650"/>
            <a:ext cx="7688700" cy="3021300"/>
          </a:xfrm>
          <a:prstGeom prst="rect">
            <a:avLst/>
          </a:prstGeom>
        </p:spPr>
        <p:txBody>
          <a:bodyPr anchorCtr="0" anchor="t" bIns="91425" lIns="91425" spcFirstLastPara="1" rIns="91425" wrap="square" tIns="91425">
            <a:normAutofit fontScale="85000" lnSpcReduction="20000"/>
          </a:bodyPr>
          <a:lstStyle/>
          <a:p>
            <a:pPr indent="0" lvl="0" marL="0" rtl="0" algn="ctr">
              <a:lnSpc>
                <a:spcPct val="120000"/>
              </a:lnSpc>
              <a:spcBef>
                <a:spcPts val="0"/>
              </a:spcBef>
              <a:spcAft>
                <a:spcPts val="0"/>
              </a:spcAft>
              <a:buNone/>
            </a:pPr>
            <a:r>
              <a:rPr b="1" i="1" lang="en" sz="1350">
                <a:solidFill>
                  <a:srgbClr val="273239"/>
                </a:solidFill>
                <a:latin typeface="Nunito"/>
                <a:ea typeface="Nunito"/>
                <a:cs typeface="Nunito"/>
                <a:sym typeface="Nunito"/>
              </a:rPr>
              <a:t>Min. Hamming Distance </a:t>
            </a:r>
            <a:r>
              <a:rPr b="1" lang="en" sz="1350">
                <a:solidFill>
                  <a:srgbClr val="273239"/>
                </a:solidFill>
                <a:highlight>
                  <a:srgbClr val="FFFFFF"/>
                </a:highlight>
                <a:latin typeface="Nunito"/>
                <a:ea typeface="Nunito"/>
                <a:cs typeface="Nunito"/>
                <a:sym typeface="Nunito"/>
              </a:rPr>
              <a:t>c</a:t>
            </a:r>
            <a:r>
              <a:rPr b="1" lang="en" sz="1000">
                <a:solidFill>
                  <a:srgbClr val="273239"/>
                </a:solidFill>
                <a:highlight>
                  <a:srgbClr val="FFFFFF"/>
                </a:highlight>
                <a:latin typeface="Nunito"/>
                <a:ea typeface="Nunito"/>
                <a:cs typeface="Nunito"/>
                <a:sym typeface="Nunito"/>
              </a:rPr>
              <a:t>1</a:t>
            </a:r>
            <a:r>
              <a:rPr b="1" lang="en" sz="1350">
                <a:solidFill>
                  <a:srgbClr val="273239"/>
                </a:solidFill>
                <a:highlight>
                  <a:srgbClr val="FFFFFF"/>
                </a:highlight>
                <a:latin typeface="Nunito"/>
                <a:ea typeface="Nunito"/>
                <a:cs typeface="Nunito"/>
                <a:sym typeface="Nunito"/>
              </a:rPr>
              <a:t>=010, c</a:t>
            </a:r>
            <a:r>
              <a:rPr b="1" lang="en" sz="1000">
                <a:solidFill>
                  <a:srgbClr val="273239"/>
                </a:solidFill>
                <a:highlight>
                  <a:srgbClr val="FFFFFF"/>
                </a:highlight>
                <a:latin typeface="Nunito"/>
                <a:ea typeface="Nunito"/>
                <a:cs typeface="Nunito"/>
                <a:sym typeface="Nunito"/>
              </a:rPr>
              <a:t>2</a:t>
            </a:r>
            <a:r>
              <a:rPr b="1" lang="en" sz="1350">
                <a:solidFill>
                  <a:srgbClr val="273239"/>
                </a:solidFill>
                <a:highlight>
                  <a:srgbClr val="FFFFFF"/>
                </a:highlight>
                <a:latin typeface="Nunito"/>
                <a:ea typeface="Nunito"/>
                <a:cs typeface="Nunito"/>
                <a:sym typeface="Nunito"/>
              </a:rPr>
              <a:t>=011, c</a:t>
            </a:r>
            <a:r>
              <a:rPr b="1" lang="en" sz="1000">
                <a:solidFill>
                  <a:srgbClr val="273239"/>
                </a:solidFill>
                <a:highlight>
                  <a:srgbClr val="FFFFFF"/>
                </a:highlight>
                <a:latin typeface="Nunito"/>
                <a:ea typeface="Nunito"/>
                <a:cs typeface="Nunito"/>
                <a:sym typeface="Nunito"/>
              </a:rPr>
              <a:t>3</a:t>
            </a:r>
            <a:r>
              <a:rPr b="1" lang="en" sz="1350">
                <a:solidFill>
                  <a:srgbClr val="273239"/>
                </a:solidFill>
                <a:highlight>
                  <a:srgbClr val="FFFFFF"/>
                </a:highlight>
                <a:latin typeface="Nunito"/>
                <a:ea typeface="Nunito"/>
                <a:cs typeface="Nunito"/>
                <a:sym typeface="Nunito"/>
              </a:rPr>
              <a:t>=111, c</a:t>
            </a:r>
            <a:r>
              <a:rPr b="1" lang="en" sz="1000">
                <a:solidFill>
                  <a:srgbClr val="273239"/>
                </a:solidFill>
                <a:highlight>
                  <a:srgbClr val="FFFFFF"/>
                </a:highlight>
                <a:latin typeface="Nunito"/>
                <a:ea typeface="Nunito"/>
                <a:cs typeface="Nunito"/>
                <a:sym typeface="Nunito"/>
              </a:rPr>
              <a:t>4</a:t>
            </a:r>
            <a:r>
              <a:rPr b="1" lang="en" sz="1350">
                <a:solidFill>
                  <a:srgbClr val="273239"/>
                </a:solidFill>
                <a:highlight>
                  <a:srgbClr val="FFFFFF"/>
                </a:highlight>
                <a:latin typeface="Nunito"/>
                <a:ea typeface="Nunito"/>
                <a:cs typeface="Nunito"/>
                <a:sym typeface="Nunito"/>
              </a:rPr>
              <a:t>=101.</a:t>
            </a:r>
            <a:br>
              <a:rPr b="1" lang="en" sz="1350">
                <a:solidFill>
                  <a:srgbClr val="273239"/>
                </a:solidFill>
                <a:highlight>
                  <a:srgbClr val="FFFFFF"/>
                </a:highlight>
                <a:latin typeface="Nunito"/>
                <a:ea typeface="Nunito"/>
                <a:cs typeface="Nunito"/>
                <a:sym typeface="Nunito"/>
              </a:rPr>
            </a:br>
            <a:endParaRPr b="1" i="1" sz="1350">
              <a:solidFill>
                <a:srgbClr val="273239"/>
              </a:solidFill>
              <a:latin typeface="Nunito"/>
              <a:ea typeface="Nunito"/>
              <a:cs typeface="Nunito"/>
              <a:sym typeface="Nunito"/>
            </a:endParaRPr>
          </a:p>
          <a:p>
            <a:pPr indent="0" lvl="0" marL="0" rtl="0" algn="ctr">
              <a:lnSpc>
                <a:spcPct val="120000"/>
              </a:lnSpc>
              <a:spcBef>
                <a:spcPts val="800"/>
              </a:spcBef>
              <a:spcAft>
                <a:spcPts val="0"/>
              </a:spcAft>
              <a:buNone/>
            </a:pPr>
            <a:r>
              <a:rPr i="1" lang="en" sz="1350">
                <a:solidFill>
                  <a:srgbClr val="273239"/>
                </a:solidFill>
                <a:latin typeface="Nunito"/>
                <a:ea typeface="Nunito"/>
                <a:cs typeface="Nunito"/>
                <a:sym typeface="Nunito"/>
              </a:rPr>
              <a:t>010 ⊕ 011 = 001, d(010, 011)  = 1</a:t>
            </a:r>
            <a:endParaRPr i="1" sz="1350">
              <a:solidFill>
                <a:srgbClr val="273239"/>
              </a:solidFill>
              <a:highlight>
                <a:srgbClr val="F9F9F9"/>
              </a:highlight>
              <a:latin typeface="Nunito"/>
              <a:ea typeface="Nunito"/>
              <a:cs typeface="Nunito"/>
              <a:sym typeface="Nunito"/>
            </a:endParaRPr>
          </a:p>
          <a:p>
            <a:pPr indent="0" lvl="0" marL="0" rtl="0" algn="l">
              <a:spcBef>
                <a:spcPts val="800"/>
              </a:spcBef>
              <a:spcAft>
                <a:spcPts val="0"/>
              </a:spcAft>
              <a:buNone/>
            </a:pPr>
            <a:r>
              <a:t/>
            </a:r>
            <a:endParaRPr sz="1100">
              <a:solidFill>
                <a:srgbClr val="000000"/>
              </a:solidFill>
              <a:latin typeface="Arial"/>
              <a:ea typeface="Arial"/>
              <a:cs typeface="Arial"/>
              <a:sym typeface="Arial"/>
            </a:endParaRPr>
          </a:p>
          <a:p>
            <a:pPr indent="0" lvl="0" marL="0" rtl="0" algn="ctr">
              <a:lnSpc>
                <a:spcPct val="120000"/>
              </a:lnSpc>
              <a:spcBef>
                <a:spcPts val="0"/>
              </a:spcBef>
              <a:spcAft>
                <a:spcPts val="0"/>
              </a:spcAft>
              <a:buNone/>
            </a:pPr>
            <a:r>
              <a:rPr i="1" lang="en" sz="1350">
                <a:solidFill>
                  <a:srgbClr val="273239"/>
                </a:solidFill>
                <a:latin typeface="Nunito"/>
                <a:ea typeface="Nunito"/>
                <a:cs typeface="Nunito"/>
                <a:sym typeface="Nunito"/>
              </a:rPr>
              <a:t>010 ⊕ 111  = 101,  d(010, 111)  = 2</a:t>
            </a:r>
            <a:endParaRPr i="1" sz="1350">
              <a:solidFill>
                <a:srgbClr val="273239"/>
              </a:solidFill>
              <a:highlight>
                <a:srgbClr val="F9F9F9"/>
              </a:highlight>
              <a:latin typeface="Nunito"/>
              <a:ea typeface="Nunito"/>
              <a:cs typeface="Nunito"/>
              <a:sym typeface="Nunito"/>
            </a:endParaRPr>
          </a:p>
          <a:p>
            <a:pPr indent="0" lvl="0" marL="0" rtl="0" algn="l">
              <a:spcBef>
                <a:spcPts val="800"/>
              </a:spcBef>
              <a:spcAft>
                <a:spcPts val="0"/>
              </a:spcAft>
              <a:buNone/>
            </a:pPr>
            <a:r>
              <a:t/>
            </a:r>
            <a:endParaRPr sz="1100">
              <a:solidFill>
                <a:srgbClr val="000000"/>
              </a:solidFill>
              <a:latin typeface="Arial"/>
              <a:ea typeface="Arial"/>
              <a:cs typeface="Arial"/>
              <a:sym typeface="Arial"/>
            </a:endParaRPr>
          </a:p>
          <a:p>
            <a:pPr indent="0" lvl="0" marL="0" rtl="0" algn="ctr">
              <a:lnSpc>
                <a:spcPct val="120000"/>
              </a:lnSpc>
              <a:spcBef>
                <a:spcPts val="0"/>
              </a:spcBef>
              <a:spcAft>
                <a:spcPts val="0"/>
              </a:spcAft>
              <a:buNone/>
            </a:pPr>
            <a:r>
              <a:rPr i="1" lang="en" sz="1350">
                <a:solidFill>
                  <a:srgbClr val="273239"/>
                </a:solidFill>
                <a:latin typeface="Nunito"/>
                <a:ea typeface="Nunito"/>
                <a:cs typeface="Nunito"/>
                <a:sym typeface="Nunito"/>
              </a:rPr>
              <a:t>010 ⊕ 101 =  111,  d(010, 101) = 3</a:t>
            </a:r>
            <a:endParaRPr i="1" sz="1350">
              <a:solidFill>
                <a:srgbClr val="273239"/>
              </a:solidFill>
              <a:highlight>
                <a:srgbClr val="F9F9F9"/>
              </a:highlight>
              <a:latin typeface="Nunito"/>
              <a:ea typeface="Nunito"/>
              <a:cs typeface="Nunito"/>
              <a:sym typeface="Nunito"/>
            </a:endParaRPr>
          </a:p>
          <a:p>
            <a:pPr indent="0" lvl="0" marL="0" rtl="0" algn="l">
              <a:spcBef>
                <a:spcPts val="800"/>
              </a:spcBef>
              <a:spcAft>
                <a:spcPts val="0"/>
              </a:spcAft>
              <a:buNone/>
            </a:pPr>
            <a:r>
              <a:t/>
            </a:r>
            <a:endParaRPr sz="1100">
              <a:solidFill>
                <a:srgbClr val="000000"/>
              </a:solidFill>
              <a:latin typeface="Arial"/>
              <a:ea typeface="Arial"/>
              <a:cs typeface="Arial"/>
              <a:sym typeface="Arial"/>
            </a:endParaRPr>
          </a:p>
          <a:p>
            <a:pPr indent="0" lvl="0" marL="0" rtl="0" algn="ctr">
              <a:lnSpc>
                <a:spcPct val="120000"/>
              </a:lnSpc>
              <a:spcBef>
                <a:spcPts val="0"/>
              </a:spcBef>
              <a:spcAft>
                <a:spcPts val="0"/>
              </a:spcAft>
              <a:buNone/>
            </a:pPr>
            <a:r>
              <a:rPr i="1" lang="en" sz="1350">
                <a:solidFill>
                  <a:srgbClr val="273239"/>
                </a:solidFill>
                <a:latin typeface="Nunito"/>
                <a:ea typeface="Nunito"/>
                <a:cs typeface="Nunito"/>
                <a:sym typeface="Nunito"/>
              </a:rPr>
              <a:t>011  ⊕ 111  =  100, d(011, 111)  = 1</a:t>
            </a:r>
            <a:endParaRPr i="1" sz="1350">
              <a:solidFill>
                <a:srgbClr val="273239"/>
              </a:solidFill>
              <a:highlight>
                <a:srgbClr val="F9F9F9"/>
              </a:highlight>
              <a:latin typeface="Nunito"/>
              <a:ea typeface="Nunito"/>
              <a:cs typeface="Nunito"/>
              <a:sym typeface="Nunito"/>
            </a:endParaRPr>
          </a:p>
          <a:p>
            <a:pPr indent="0" lvl="0" marL="0" rtl="0" algn="l">
              <a:spcBef>
                <a:spcPts val="800"/>
              </a:spcBef>
              <a:spcAft>
                <a:spcPts val="0"/>
              </a:spcAft>
              <a:buNone/>
            </a:pPr>
            <a:r>
              <a:t/>
            </a:r>
            <a:endParaRPr sz="1100">
              <a:solidFill>
                <a:srgbClr val="000000"/>
              </a:solidFill>
              <a:latin typeface="Arial"/>
              <a:ea typeface="Arial"/>
              <a:cs typeface="Arial"/>
              <a:sym typeface="Arial"/>
            </a:endParaRPr>
          </a:p>
          <a:p>
            <a:pPr indent="0" lvl="0" marL="0" rtl="0" algn="ctr">
              <a:lnSpc>
                <a:spcPct val="120000"/>
              </a:lnSpc>
              <a:spcBef>
                <a:spcPts val="0"/>
              </a:spcBef>
              <a:spcAft>
                <a:spcPts val="0"/>
              </a:spcAft>
              <a:buNone/>
            </a:pPr>
            <a:r>
              <a:rPr i="1" lang="en" sz="1350">
                <a:solidFill>
                  <a:srgbClr val="273239"/>
                </a:solidFill>
                <a:latin typeface="Nunito"/>
                <a:ea typeface="Nunito"/>
                <a:cs typeface="Nunito"/>
                <a:sym typeface="Nunito"/>
              </a:rPr>
              <a:t>011  ⊕ 101 = 110, d(011, 101)   = 2</a:t>
            </a:r>
            <a:endParaRPr i="1" sz="1350">
              <a:solidFill>
                <a:srgbClr val="273239"/>
              </a:solidFill>
              <a:highlight>
                <a:srgbClr val="F9F9F9"/>
              </a:highlight>
              <a:latin typeface="Nunito"/>
              <a:ea typeface="Nunito"/>
              <a:cs typeface="Nunito"/>
              <a:sym typeface="Nunito"/>
            </a:endParaRPr>
          </a:p>
          <a:p>
            <a:pPr indent="0" lvl="0" marL="0" rtl="0" algn="l">
              <a:spcBef>
                <a:spcPts val="800"/>
              </a:spcBef>
              <a:spcAft>
                <a:spcPts val="0"/>
              </a:spcAft>
              <a:buNone/>
            </a:pPr>
            <a:r>
              <a:t/>
            </a:r>
            <a:endParaRPr sz="1100">
              <a:solidFill>
                <a:srgbClr val="000000"/>
              </a:solidFill>
              <a:latin typeface="Arial"/>
              <a:ea typeface="Arial"/>
              <a:cs typeface="Arial"/>
              <a:sym typeface="Arial"/>
            </a:endParaRPr>
          </a:p>
          <a:p>
            <a:pPr indent="0" lvl="0" marL="0" rtl="0" algn="ctr">
              <a:lnSpc>
                <a:spcPct val="120000"/>
              </a:lnSpc>
              <a:spcBef>
                <a:spcPts val="0"/>
              </a:spcBef>
              <a:spcAft>
                <a:spcPts val="800"/>
              </a:spcAft>
              <a:buNone/>
            </a:pPr>
            <a:r>
              <a:rPr i="1" lang="en" sz="1350">
                <a:solidFill>
                  <a:srgbClr val="273239"/>
                </a:solidFill>
                <a:latin typeface="Nunito"/>
                <a:ea typeface="Nunito"/>
                <a:cs typeface="Nunito"/>
                <a:sym typeface="Nunito"/>
              </a:rPr>
              <a:t>111  ⊕ 101 = 010, d(111, 101)   = 1</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c7205cde05_0_31"/>
          <p:cNvSpPr txBox="1"/>
          <p:nvPr>
            <p:ph idx="1" type="body"/>
          </p:nvPr>
        </p:nvSpPr>
        <p:spPr>
          <a:xfrm>
            <a:off x="729450" y="1318650"/>
            <a:ext cx="3876900" cy="3021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Smallest non-zero weight = 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Therefore</a:t>
            </a:r>
            <a:r>
              <a:rPr lang="en"/>
              <a:t>: </a:t>
            </a:r>
            <a:endParaRPr/>
          </a:p>
          <a:p>
            <a:pPr indent="0" lvl="0" marL="0" rtl="0" algn="l">
              <a:spcBef>
                <a:spcPts val="0"/>
              </a:spcBef>
              <a:spcAft>
                <a:spcPts val="0"/>
              </a:spcAft>
              <a:buNone/>
            </a:pPr>
            <a:r>
              <a:rPr lang="en"/>
              <a:t>min. hamming distance d</a:t>
            </a:r>
            <a:r>
              <a:rPr baseline="-25000" lang="en"/>
              <a:t>min</a:t>
            </a:r>
            <a:r>
              <a:rPr lang="en"/>
              <a:t> = 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SO, FOR WHOLE CODEWORD</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en"/>
              <a:t>Maximum detectable errors =   d</a:t>
            </a:r>
            <a:r>
              <a:rPr baseline="-25000" lang="en"/>
              <a:t>min</a:t>
            </a:r>
            <a:r>
              <a:rPr lang="en"/>
              <a:t> − 1                   </a:t>
            </a:r>
            <a:r>
              <a:rPr lang="en">
                <a:solidFill>
                  <a:srgbClr val="FF0000"/>
                </a:solidFill>
              </a:rPr>
              <a:t>2 bit</a:t>
            </a:r>
            <a:endParaRPr>
              <a:solidFill>
                <a:srgbClr val="FF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Maximum correctable errors =   (d</a:t>
            </a:r>
            <a:r>
              <a:rPr baseline="-25000" lang="en"/>
              <a:t>min</a:t>
            </a:r>
            <a:r>
              <a:rPr lang="en"/>
              <a:t> − 1) / 2       </a:t>
            </a:r>
            <a:r>
              <a:rPr lang="en">
                <a:solidFill>
                  <a:srgbClr val="FF0000"/>
                </a:solidFill>
              </a:rPr>
              <a:t>1 bit</a:t>
            </a:r>
            <a:endParaRPr>
              <a:solidFill>
                <a:srgbClr val="FF0000"/>
              </a:solidFill>
            </a:endParaRPr>
          </a:p>
          <a:p>
            <a:pPr indent="0" lvl="0" marL="0" rtl="0" algn="l">
              <a:spcBef>
                <a:spcPts val="0"/>
              </a:spcBef>
              <a:spcAft>
                <a:spcPts val="0"/>
              </a:spcAft>
              <a:buNone/>
            </a:pPr>
            <a:r>
              <a:t/>
            </a:r>
            <a:endParaRPr/>
          </a:p>
        </p:txBody>
      </p:sp>
      <p:graphicFrame>
        <p:nvGraphicFramePr>
          <p:cNvPr id="230" name="Google Shape;230;g3c7205cde05_0_31"/>
          <p:cNvGraphicFramePr/>
          <p:nvPr/>
        </p:nvGraphicFramePr>
        <p:xfrm>
          <a:off x="4896575" y="850700"/>
          <a:ext cx="3000000" cy="3000000"/>
        </p:xfrm>
        <a:graphic>
          <a:graphicData uri="http://schemas.openxmlformats.org/drawingml/2006/table">
            <a:tbl>
              <a:tblPr>
                <a:noFill/>
                <a:tableStyleId>{7D40AE22-839D-4139-B4DC-467C8450E28B}</a:tableStyleId>
              </a:tblPr>
              <a:tblGrid>
                <a:gridCol w="1265650"/>
                <a:gridCol w="1265650"/>
                <a:gridCol w="1265650"/>
              </a:tblGrid>
              <a:tr h="312925">
                <a:tc>
                  <a:txBody>
                    <a:bodyPr/>
                    <a:lstStyle/>
                    <a:p>
                      <a:pPr indent="0" lvl="0" marL="0" rtl="0" algn="ctr">
                        <a:spcBef>
                          <a:spcPts val="0"/>
                        </a:spcBef>
                        <a:spcAft>
                          <a:spcPts val="0"/>
                        </a:spcAft>
                        <a:buNone/>
                      </a:pPr>
                      <a:r>
                        <a:rPr lang="en" sz="900"/>
                        <a:t>4 BIT</a:t>
                      </a:r>
                      <a:endParaRPr sz="900"/>
                    </a:p>
                  </a:txBody>
                  <a:tcPr marT="91425" marB="91425" marR="91425" marL="91425"/>
                </a:tc>
                <a:tc>
                  <a:txBody>
                    <a:bodyPr/>
                    <a:lstStyle/>
                    <a:p>
                      <a:pPr indent="0" lvl="0" marL="0" rtl="0" algn="ctr">
                        <a:spcBef>
                          <a:spcPts val="0"/>
                        </a:spcBef>
                        <a:spcAft>
                          <a:spcPts val="0"/>
                        </a:spcAft>
                        <a:buNone/>
                      </a:pPr>
                      <a:r>
                        <a:rPr lang="en" sz="900"/>
                        <a:t>HAMMING CODE</a:t>
                      </a:r>
                      <a:endParaRPr sz="900"/>
                    </a:p>
                  </a:txBody>
                  <a:tcPr marT="91425" marB="91425" marR="91425" marL="91425"/>
                </a:tc>
                <a:tc>
                  <a:txBody>
                    <a:bodyPr/>
                    <a:lstStyle/>
                    <a:p>
                      <a:pPr indent="0" lvl="0" marL="0" rtl="0" algn="ctr">
                        <a:spcBef>
                          <a:spcPts val="0"/>
                        </a:spcBef>
                        <a:spcAft>
                          <a:spcPts val="0"/>
                        </a:spcAft>
                        <a:buNone/>
                      </a:pPr>
                      <a:r>
                        <a:rPr lang="en" sz="900"/>
                        <a:t>WEIGHT</a:t>
                      </a:r>
                      <a:endParaRPr sz="900"/>
                    </a:p>
                  </a:txBody>
                  <a:tcPr marT="91425" marB="91425" marR="91425" marL="91425"/>
                </a:tc>
              </a:tr>
              <a:tr h="227325">
                <a:tc>
                  <a:txBody>
                    <a:bodyPr/>
                    <a:lstStyle/>
                    <a:p>
                      <a:pPr indent="0" lvl="0" marL="0" rtl="0" algn="ctr">
                        <a:spcBef>
                          <a:spcPts val="0"/>
                        </a:spcBef>
                        <a:spcAft>
                          <a:spcPts val="0"/>
                        </a:spcAft>
                        <a:buNone/>
                      </a:pPr>
                      <a:r>
                        <a:rPr lang="en" sz="900"/>
                        <a:t>0000</a:t>
                      </a:r>
                      <a:endParaRPr sz="900"/>
                    </a:p>
                  </a:txBody>
                  <a:tcPr marT="0" marB="0" marR="0" marL="0"/>
                </a:tc>
                <a:tc>
                  <a:txBody>
                    <a:bodyPr/>
                    <a:lstStyle/>
                    <a:p>
                      <a:pPr indent="0" lvl="0" marL="0" rtl="0" algn="ctr">
                        <a:spcBef>
                          <a:spcPts val="0"/>
                        </a:spcBef>
                        <a:spcAft>
                          <a:spcPts val="0"/>
                        </a:spcAft>
                        <a:buNone/>
                      </a:pPr>
                      <a:r>
                        <a:rPr lang="en" sz="900"/>
                        <a:t>0000000</a:t>
                      </a:r>
                      <a:endParaRPr sz="900"/>
                    </a:p>
                  </a:txBody>
                  <a:tcPr marT="0" marB="0" marR="0" marL="0"/>
                </a:tc>
                <a:tc>
                  <a:txBody>
                    <a:bodyPr/>
                    <a:lstStyle/>
                    <a:p>
                      <a:pPr indent="0" lvl="0" marL="0" rtl="0" algn="ctr">
                        <a:spcBef>
                          <a:spcPts val="0"/>
                        </a:spcBef>
                        <a:spcAft>
                          <a:spcPts val="0"/>
                        </a:spcAft>
                        <a:buNone/>
                      </a:pPr>
                      <a:r>
                        <a:rPr lang="en" sz="900"/>
                        <a:t>0</a:t>
                      </a:r>
                      <a:endParaRPr sz="900"/>
                    </a:p>
                  </a:txBody>
                  <a:tcPr marT="0" marB="0" marR="0" marL="0"/>
                </a:tc>
              </a:tr>
              <a:tr h="227325">
                <a:tc>
                  <a:txBody>
                    <a:bodyPr/>
                    <a:lstStyle/>
                    <a:p>
                      <a:pPr indent="0" lvl="0" marL="0" rtl="0" algn="ctr">
                        <a:spcBef>
                          <a:spcPts val="0"/>
                        </a:spcBef>
                        <a:spcAft>
                          <a:spcPts val="0"/>
                        </a:spcAft>
                        <a:buNone/>
                      </a:pPr>
                      <a:r>
                        <a:rPr lang="en" sz="900"/>
                        <a:t>0001</a:t>
                      </a:r>
                      <a:endParaRPr sz="900"/>
                    </a:p>
                  </a:txBody>
                  <a:tcPr marT="0" marB="0" marR="0" marL="0"/>
                </a:tc>
                <a:tc>
                  <a:txBody>
                    <a:bodyPr/>
                    <a:lstStyle/>
                    <a:p>
                      <a:pPr indent="0" lvl="0" marL="0" rtl="0" algn="ctr">
                        <a:spcBef>
                          <a:spcPts val="0"/>
                        </a:spcBef>
                        <a:spcAft>
                          <a:spcPts val="0"/>
                        </a:spcAft>
                        <a:buNone/>
                      </a:pPr>
                      <a:r>
                        <a:rPr lang="en" sz="900"/>
                        <a:t>0000111</a:t>
                      </a:r>
                      <a:endParaRPr sz="900"/>
                    </a:p>
                  </a:txBody>
                  <a:tcPr marT="0" marB="0" marR="0" marL="0"/>
                </a:tc>
                <a:tc>
                  <a:txBody>
                    <a:bodyPr/>
                    <a:lstStyle/>
                    <a:p>
                      <a:pPr indent="0" lvl="0" marL="0" rtl="0" algn="ctr">
                        <a:spcBef>
                          <a:spcPts val="0"/>
                        </a:spcBef>
                        <a:spcAft>
                          <a:spcPts val="0"/>
                        </a:spcAft>
                        <a:buNone/>
                      </a:pPr>
                      <a:r>
                        <a:rPr lang="en" sz="900"/>
                        <a:t>3</a:t>
                      </a:r>
                      <a:endParaRPr sz="900"/>
                    </a:p>
                  </a:txBody>
                  <a:tcPr marT="0" marB="0" marR="0" marL="0"/>
                </a:tc>
              </a:tr>
              <a:tr h="227325">
                <a:tc>
                  <a:txBody>
                    <a:bodyPr/>
                    <a:lstStyle/>
                    <a:p>
                      <a:pPr indent="0" lvl="0" marL="0" rtl="0" algn="ctr">
                        <a:spcBef>
                          <a:spcPts val="0"/>
                        </a:spcBef>
                        <a:spcAft>
                          <a:spcPts val="0"/>
                        </a:spcAft>
                        <a:buNone/>
                      </a:pPr>
                      <a:r>
                        <a:rPr lang="en" sz="900"/>
                        <a:t>0010</a:t>
                      </a:r>
                      <a:endParaRPr sz="900"/>
                    </a:p>
                  </a:txBody>
                  <a:tcPr marT="0" marB="0" marR="0" marL="0"/>
                </a:tc>
                <a:tc>
                  <a:txBody>
                    <a:bodyPr/>
                    <a:lstStyle/>
                    <a:p>
                      <a:pPr indent="0" lvl="0" marL="0" rtl="0" algn="ctr">
                        <a:spcBef>
                          <a:spcPts val="0"/>
                        </a:spcBef>
                        <a:spcAft>
                          <a:spcPts val="0"/>
                        </a:spcAft>
                        <a:buNone/>
                      </a:pPr>
                      <a:r>
                        <a:rPr lang="en" sz="900"/>
                        <a:t>0011001</a:t>
                      </a:r>
                      <a:endParaRPr sz="900"/>
                    </a:p>
                  </a:txBody>
                  <a:tcPr marT="0" marB="0" marR="0" marL="0"/>
                </a:tc>
                <a:tc>
                  <a:txBody>
                    <a:bodyPr/>
                    <a:lstStyle/>
                    <a:p>
                      <a:pPr indent="0" lvl="0" marL="0" rtl="0" algn="ctr">
                        <a:spcBef>
                          <a:spcPts val="0"/>
                        </a:spcBef>
                        <a:spcAft>
                          <a:spcPts val="0"/>
                        </a:spcAft>
                        <a:buNone/>
                      </a:pPr>
                      <a:r>
                        <a:rPr lang="en" sz="900"/>
                        <a:t>3</a:t>
                      </a:r>
                      <a:endParaRPr sz="900"/>
                    </a:p>
                  </a:txBody>
                  <a:tcPr marT="0" marB="0" marR="0" marL="0"/>
                </a:tc>
              </a:tr>
              <a:tr h="227325">
                <a:tc>
                  <a:txBody>
                    <a:bodyPr/>
                    <a:lstStyle/>
                    <a:p>
                      <a:pPr indent="0" lvl="0" marL="0" rtl="0" algn="ctr">
                        <a:spcBef>
                          <a:spcPts val="0"/>
                        </a:spcBef>
                        <a:spcAft>
                          <a:spcPts val="0"/>
                        </a:spcAft>
                        <a:buNone/>
                      </a:pPr>
                      <a:r>
                        <a:rPr lang="en" sz="900"/>
                        <a:t>0011</a:t>
                      </a:r>
                      <a:endParaRPr sz="900"/>
                    </a:p>
                  </a:txBody>
                  <a:tcPr marT="0" marB="0" marR="0" marL="0"/>
                </a:tc>
                <a:tc>
                  <a:txBody>
                    <a:bodyPr/>
                    <a:lstStyle/>
                    <a:p>
                      <a:pPr indent="0" lvl="0" marL="0" rtl="0" algn="ctr">
                        <a:spcBef>
                          <a:spcPts val="0"/>
                        </a:spcBef>
                        <a:spcAft>
                          <a:spcPts val="0"/>
                        </a:spcAft>
                        <a:buNone/>
                      </a:pPr>
                      <a:r>
                        <a:rPr lang="en" sz="900"/>
                        <a:t>0011110</a:t>
                      </a:r>
                      <a:endParaRPr sz="900"/>
                    </a:p>
                  </a:txBody>
                  <a:tcPr marT="0" marB="0" marR="0" marL="0"/>
                </a:tc>
                <a:tc>
                  <a:txBody>
                    <a:bodyPr/>
                    <a:lstStyle/>
                    <a:p>
                      <a:pPr indent="0" lvl="0" marL="0" rtl="0" algn="ctr">
                        <a:spcBef>
                          <a:spcPts val="0"/>
                        </a:spcBef>
                        <a:spcAft>
                          <a:spcPts val="0"/>
                        </a:spcAft>
                        <a:buNone/>
                      </a:pPr>
                      <a:r>
                        <a:rPr lang="en" sz="900"/>
                        <a:t>4</a:t>
                      </a:r>
                      <a:endParaRPr sz="900"/>
                    </a:p>
                  </a:txBody>
                  <a:tcPr marT="0" marB="0" marR="0" marL="0"/>
                </a:tc>
              </a:tr>
              <a:tr h="227325">
                <a:tc>
                  <a:txBody>
                    <a:bodyPr/>
                    <a:lstStyle/>
                    <a:p>
                      <a:pPr indent="0" lvl="0" marL="0" rtl="0" algn="ctr">
                        <a:spcBef>
                          <a:spcPts val="0"/>
                        </a:spcBef>
                        <a:spcAft>
                          <a:spcPts val="0"/>
                        </a:spcAft>
                        <a:buNone/>
                      </a:pPr>
                      <a:r>
                        <a:rPr lang="en" sz="900"/>
                        <a:t>0100</a:t>
                      </a:r>
                      <a:endParaRPr sz="900"/>
                    </a:p>
                  </a:txBody>
                  <a:tcPr marT="0" marB="0" marR="0" marL="0"/>
                </a:tc>
                <a:tc>
                  <a:txBody>
                    <a:bodyPr/>
                    <a:lstStyle/>
                    <a:p>
                      <a:pPr indent="0" lvl="0" marL="0" rtl="0" algn="ctr">
                        <a:spcBef>
                          <a:spcPts val="0"/>
                        </a:spcBef>
                        <a:spcAft>
                          <a:spcPts val="0"/>
                        </a:spcAft>
                        <a:buNone/>
                      </a:pPr>
                      <a:r>
                        <a:rPr lang="en" sz="900"/>
                        <a:t>0101010</a:t>
                      </a:r>
                      <a:endParaRPr sz="900"/>
                    </a:p>
                  </a:txBody>
                  <a:tcPr marT="0" marB="0" marR="0" marL="0"/>
                </a:tc>
                <a:tc>
                  <a:txBody>
                    <a:bodyPr/>
                    <a:lstStyle/>
                    <a:p>
                      <a:pPr indent="0" lvl="0" marL="0" rtl="0" algn="ctr">
                        <a:spcBef>
                          <a:spcPts val="0"/>
                        </a:spcBef>
                        <a:spcAft>
                          <a:spcPts val="0"/>
                        </a:spcAft>
                        <a:buNone/>
                      </a:pPr>
                      <a:r>
                        <a:rPr lang="en" sz="900"/>
                        <a:t>3</a:t>
                      </a:r>
                      <a:endParaRPr sz="900"/>
                    </a:p>
                  </a:txBody>
                  <a:tcPr marT="0" marB="0" marR="0" marL="0"/>
                </a:tc>
              </a:tr>
              <a:tr h="227325">
                <a:tc>
                  <a:txBody>
                    <a:bodyPr/>
                    <a:lstStyle/>
                    <a:p>
                      <a:pPr indent="0" lvl="0" marL="0" rtl="0" algn="ctr">
                        <a:spcBef>
                          <a:spcPts val="0"/>
                        </a:spcBef>
                        <a:spcAft>
                          <a:spcPts val="0"/>
                        </a:spcAft>
                        <a:buNone/>
                      </a:pPr>
                      <a:r>
                        <a:rPr lang="en" sz="900"/>
                        <a:t>0101</a:t>
                      </a:r>
                      <a:endParaRPr sz="900"/>
                    </a:p>
                  </a:txBody>
                  <a:tcPr marT="0" marB="0" marR="0" marL="0"/>
                </a:tc>
                <a:tc>
                  <a:txBody>
                    <a:bodyPr/>
                    <a:lstStyle/>
                    <a:p>
                      <a:pPr indent="0" lvl="0" marL="0" rtl="0" algn="ctr">
                        <a:spcBef>
                          <a:spcPts val="0"/>
                        </a:spcBef>
                        <a:spcAft>
                          <a:spcPts val="0"/>
                        </a:spcAft>
                        <a:buNone/>
                      </a:pPr>
                      <a:r>
                        <a:rPr lang="en" sz="900"/>
                        <a:t>0101101</a:t>
                      </a:r>
                      <a:endParaRPr sz="900"/>
                    </a:p>
                  </a:txBody>
                  <a:tcPr marT="0" marB="0" marR="0" marL="0"/>
                </a:tc>
                <a:tc>
                  <a:txBody>
                    <a:bodyPr/>
                    <a:lstStyle/>
                    <a:p>
                      <a:pPr indent="0" lvl="0" marL="0" rtl="0" algn="ctr">
                        <a:spcBef>
                          <a:spcPts val="0"/>
                        </a:spcBef>
                        <a:spcAft>
                          <a:spcPts val="0"/>
                        </a:spcAft>
                        <a:buNone/>
                      </a:pPr>
                      <a:r>
                        <a:rPr lang="en" sz="900"/>
                        <a:t>4</a:t>
                      </a:r>
                      <a:endParaRPr sz="900"/>
                    </a:p>
                  </a:txBody>
                  <a:tcPr marT="0" marB="0" marR="0" marL="0"/>
                </a:tc>
              </a:tr>
              <a:tr h="227325">
                <a:tc>
                  <a:txBody>
                    <a:bodyPr/>
                    <a:lstStyle/>
                    <a:p>
                      <a:pPr indent="0" lvl="0" marL="0" rtl="0" algn="ctr">
                        <a:spcBef>
                          <a:spcPts val="0"/>
                        </a:spcBef>
                        <a:spcAft>
                          <a:spcPts val="0"/>
                        </a:spcAft>
                        <a:buNone/>
                      </a:pPr>
                      <a:r>
                        <a:rPr lang="en" sz="900"/>
                        <a:t>0110</a:t>
                      </a:r>
                      <a:endParaRPr sz="900"/>
                    </a:p>
                  </a:txBody>
                  <a:tcPr marT="0" marB="0" marR="0" marL="0"/>
                </a:tc>
                <a:tc>
                  <a:txBody>
                    <a:bodyPr/>
                    <a:lstStyle/>
                    <a:p>
                      <a:pPr indent="0" lvl="0" marL="0" rtl="0" algn="ctr">
                        <a:spcBef>
                          <a:spcPts val="0"/>
                        </a:spcBef>
                        <a:spcAft>
                          <a:spcPts val="0"/>
                        </a:spcAft>
                        <a:buNone/>
                      </a:pPr>
                      <a:r>
                        <a:rPr lang="en" sz="900"/>
                        <a:t>0110011</a:t>
                      </a:r>
                      <a:endParaRPr sz="900"/>
                    </a:p>
                  </a:txBody>
                  <a:tcPr marT="0" marB="0" marR="0" marL="0"/>
                </a:tc>
                <a:tc>
                  <a:txBody>
                    <a:bodyPr/>
                    <a:lstStyle/>
                    <a:p>
                      <a:pPr indent="0" lvl="0" marL="0" rtl="0" algn="ctr">
                        <a:spcBef>
                          <a:spcPts val="0"/>
                        </a:spcBef>
                        <a:spcAft>
                          <a:spcPts val="0"/>
                        </a:spcAft>
                        <a:buNone/>
                      </a:pPr>
                      <a:r>
                        <a:rPr lang="en" sz="900"/>
                        <a:t>4</a:t>
                      </a:r>
                      <a:endParaRPr sz="900"/>
                    </a:p>
                  </a:txBody>
                  <a:tcPr marT="0" marB="0" marR="0" marL="0"/>
                </a:tc>
              </a:tr>
              <a:tr h="227325">
                <a:tc>
                  <a:txBody>
                    <a:bodyPr/>
                    <a:lstStyle/>
                    <a:p>
                      <a:pPr indent="0" lvl="0" marL="0" rtl="0" algn="ctr">
                        <a:spcBef>
                          <a:spcPts val="0"/>
                        </a:spcBef>
                        <a:spcAft>
                          <a:spcPts val="0"/>
                        </a:spcAft>
                        <a:buNone/>
                      </a:pPr>
                      <a:r>
                        <a:rPr lang="en" sz="900"/>
                        <a:t>0111</a:t>
                      </a:r>
                      <a:endParaRPr sz="900"/>
                    </a:p>
                  </a:txBody>
                  <a:tcPr marT="0" marB="0" marR="0" marL="0"/>
                </a:tc>
                <a:tc>
                  <a:txBody>
                    <a:bodyPr/>
                    <a:lstStyle/>
                    <a:p>
                      <a:pPr indent="0" lvl="0" marL="0" rtl="0" algn="ctr">
                        <a:spcBef>
                          <a:spcPts val="0"/>
                        </a:spcBef>
                        <a:spcAft>
                          <a:spcPts val="0"/>
                        </a:spcAft>
                        <a:buNone/>
                      </a:pPr>
                      <a:r>
                        <a:rPr lang="en" sz="900"/>
                        <a:t>0110100</a:t>
                      </a:r>
                      <a:endParaRPr sz="900"/>
                    </a:p>
                  </a:txBody>
                  <a:tcPr marT="0" marB="0" marR="0" marL="0"/>
                </a:tc>
                <a:tc>
                  <a:txBody>
                    <a:bodyPr/>
                    <a:lstStyle/>
                    <a:p>
                      <a:pPr indent="0" lvl="0" marL="0" rtl="0" algn="ctr">
                        <a:spcBef>
                          <a:spcPts val="0"/>
                        </a:spcBef>
                        <a:spcAft>
                          <a:spcPts val="0"/>
                        </a:spcAft>
                        <a:buNone/>
                      </a:pPr>
                      <a:r>
                        <a:rPr lang="en" sz="900"/>
                        <a:t>3</a:t>
                      </a:r>
                      <a:endParaRPr sz="900"/>
                    </a:p>
                  </a:txBody>
                  <a:tcPr marT="0" marB="0" marR="0" marL="0"/>
                </a:tc>
              </a:tr>
              <a:tr h="227325">
                <a:tc>
                  <a:txBody>
                    <a:bodyPr/>
                    <a:lstStyle/>
                    <a:p>
                      <a:pPr indent="0" lvl="0" marL="0" rtl="0" algn="ctr">
                        <a:spcBef>
                          <a:spcPts val="0"/>
                        </a:spcBef>
                        <a:spcAft>
                          <a:spcPts val="0"/>
                        </a:spcAft>
                        <a:buNone/>
                      </a:pPr>
                      <a:r>
                        <a:rPr lang="en" sz="900"/>
                        <a:t>1000</a:t>
                      </a:r>
                      <a:endParaRPr sz="900"/>
                    </a:p>
                  </a:txBody>
                  <a:tcPr marT="0" marB="0" marR="0" marL="0"/>
                </a:tc>
                <a:tc>
                  <a:txBody>
                    <a:bodyPr/>
                    <a:lstStyle/>
                    <a:p>
                      <a:pPr indent="0" lvl="0" marL="0" rtl="0" algn="ctr">
                        <a:spcBef>
                          <a:spcPts val="0"/>
                        </a:spcBef>
                        <a:spcAft>
                          <a:spcPts val="0"/>
                        </a:spcAft>
                        <a:buNone/>
                      </a:pPr>
                      <a:r>
                        <a:rPr lang="en" sz="900"/>
                        <a:t>1001011</a:t>
                      </a:r>
                      <a:endParaRPr sz="900"/>
                    </a:p>
                  </a:txBody>
                  <a:tcPr marT="0" marB="0" marR="0" marL="0"/>
                </a:tc>
                <a:tc>
                  <a:txBody>
                    <a:bodyPr/>
                    <a:lstStyle/>
                    <a:p>
                      <a:pPr indent="0" lvl="0" marL="0" rtl="0" algn="ctr">
                        <a:spcBef>
                          <a:spcPts val="0"/>
                        </a:spcBef>
                        <a:spcAft>
                          <a:spcPts val="0"/>
                        </a:spcAft>
                        <a:buNone/>
                      </a:pPr>
                      <a:r>
                        <a:rPr lang="en" sz="900"/>
                        <a:t>4</a:t>
                      </a:r>
                      <a:endParaRPr sz="900"/>
                    </a:p>
                  </a:txBody>
                  <a:tcPr marT="0" marB="0" marR="0" marL="0"/>
                </a:tc>
              </a:tr>
              <a:tr h="227325">
                <a:tc>
                  <a:txBody>
                    <a:bodyPr/>
                    <a:lstStyle/>
                    <a:p>
                      <a:pPr indent="0" lvl="0" marL="0" rtl="0" algn="ctr">
                        <a:spcBef>
                          <a:spcPts val="0"/>
                        </a:spcBef>
                        <a:spcAft>
                          <a:spcPts val="0"/>
                        </a:spcAft>
                        <a:buNone/>
                      </a:pPr>
                      <a:r>
                        <a:rPr lang="en" sz="900"/>
                        <a:t>1001</a:t>
                      </a:r>
                      <a:endParaRPr sz="900"/>
                    </a:p>
                  </a:txBody>
                  <a:tcPr marT="0" marB="0" marR="0" marL="0"/>
                </a:tc>
                <a:tc>
                  <a:txBody>
                    <a:bodyPr/>
                    <a:lstStyle/>
                    <a:p>
                      <a:pPr indent="0" lvl="0" marL="0" rtl="0" algn="ctr">
                        <a:spcBef>
                          <a:spcPts val="0"/>
                        </a:spcBef>
                        <a:spcAft>
                          <a:spcPts val="0"/>
                        </a:spcAft>
                        <a:buNone/>
                      </a:pPr>
                      <a:r>
                        <a:rPr lang="en" sz="900"/>
                        <a:t>1001100</a:t>
                      </a:r>
                      <a:endParaRPr sz="900"/>
                    </a:p>
                  </a:txBody>
                  <a:tcPr marT="0" marB="0" marR="0" marL="0"/>
                </a:tc>
                <a:tc>
                  <a:txBody>
                    <a:bodyPr/>
                    <a:lstStyle/>
                    <a:p>
                      <a:pPr indent="0" lvl="0" marL="0" rtl="0" algn="ctr">
                        <a:spcBef>
                          <a:spcPts val="0"/>
                        </a:spcBef>
                        <a:spcAft>
                          <a:spcPts val="0"/>
                        </a:spcAft>
                        <a:buNone/>
                      </a:pPr>
                      <a:r>
                        <a:rPr lang="en" sz="900"/>
                        <a:t>3</a:t>
                      </a:r>
                      <a:endParaRPr sz="900"/>
                    </a:p>
                  </a:txBody>
                  <a:tcPr marT="0" marB="0" marR="0" marL="0"/>
                </a:tc>
              </a:tr>
              <a:tr h="227325">
                <a:tc>
                  <a:txBody>
                    <a:bodyPr/>
                    <a:lstStyle/>
                    <a:p>
                      <a:pPr indent="0" lvl="0" marL="0" rtl="0" algn="ctr">
                        <a:spcBef>
                          <a:spcPts val="0"/>
                        </a:spcBef>
                        <a:spcAft>
                          <a:spcPts val="0"/>
                        </a:spcAft>
                        <a:buNone/>
                      </a:pPr>
                      <a:r>
                        <a:rPr lang="en" sz="900"/>
                        <a:t>1010</a:t>
                      </a:r>
                      <a:endParaRPr sz="900"/>
                    </a:p>
                  </a:txBody>
                  <a:tcPr marT="0" marB="0" marR="0" marL="0"/>
                </a:tc>
                <a:tc>
                  <a:txBody>
                    <a:bodyPr/>
                    <a:lstStyle/>
                    <a:p>
                      <a:pPr indent="0" lvl="0" marL="0" rtl="0" algn="ctr">
                        <a:spcBef>
                          <a:spcPts val="0"/>
                        </a:spcBef>
                        <a:spcAft>
                          <a:spcPts val="0"/>
                        </a:spcAft>
                        <a:buNone/>
                      </a:pPr>
                      <a:r>
                        <a:rPr lang="en" sz="900"/>
                        <a:t>1010010</a:t>
                      </a:r>
                      <a:endParaRPr sz="900"/>
                    </a:p>
                  </a:txBody>
                  <a:tcPr marT="0" marB="0" marR="0" marL="0"/>
                </a:tc>
                <a:tc>
                  <a:txBody>
                    <a:bodyPr/>
                    <a:lstStyle/>
                    <a:p>
                      <a:pPr indent="0" lvl="0" marL="0" rtl="0" algn="ctr">
                        <a:spcBef>
                          <a:spcPts val="0"/>
                        </a:spcBef>
                        <a:spcAft>
                          <a:spcPts val="0"/>
                        </a:spcAft>
                        <a:buNone/>
                      </a:pPr>
                      <a:r>
                        <a:rPr lang="en" sz="900"/>
                        <a:t>3</a:t>
                      </a:r>
                      <a:endParaRPr sz="900"/>
                    </a:p>
                  </a:txBody>
                  <a:tcPr marT="0" marB="0" marR="0" marL="0"/>
                </a:tc>
              </a:tr>
              <a:tr h="227325">
                <a:tc>
                  <a:txBody>
                    <a:bodyPr/>
                    <a:lstStyle/>
                    <a:p>
                      <a:pPr indent="0" lvl="0" marL="0" rtl="0" algn="ctr">
                        <a:spcBef>
                          <a:spcPts val="0"/>
                        </a:spcBef>
                        <a:spcAft>
                          <a:spcPts val="0"/>
                        </a:spcAft>
                        <a:buNone/>
                      </a:pPr>
                      <a:r>
                        <a:rPr lang="en" sz="900"/>
                        <a:t>1011</a:t>
                      </a:r>
                      <a:endParaRPr sz="900"/>
                    </a:p>
                  </a:txBody>
                  <a:tcPr marT="0" marB="0" marR="0" marL="0"/>
                </a:tc>
                <a:tc>
                  <a:txBody>
                    <a:bodyPr/>
                    <a:lstStyle/>
                    <a:p>
                      <a:pPr indent="0" lvl="0" marL="0" rtl="0" algn="ctr">
                        <a:spcBef>
                          <a:spcPts val="0"/>
                        </a:spcBef>
                        <a:spcAft>
                          <a:spcPts val="0"/>
                        </a:spcAft>
                        <a:buNone/>
                      </a:pPr>
                      <a:r>
                        <a:rPr lang="en" sz="900"/>
                        <a:t>1010101</a:t>
                      </a:r>
                      <a:endParaRPr sz="900"/>
                    </a:p>
                  </a:txBody>
                  <a:tcPr marT="0" marB="0" marR="0" marL="0"/>
                </a:tc>
                <a:tc>
                  <a:txBody>
                    <a:bodyPr/>
                    <a:lstStyle/>
                    <a:p>
                      <a:pPr indent="0" lvl="0" marL="0" rtl="0" algn="ctr">
                        <a:spcBef>
                          <a:spcPts val="0"/>
                        </a:spcBef>
                        <a:spcAft>
                          <a:spcPts val="0"/>
                        </a:spcAft>
                        <a:buNone/>
                      </a:pPr>
                      <a:r>
                        <a:rPr lang="en" sz="900"/>
                        <a:t>4</a:t>
                      </a:r>
                      <a:endParaRPr sz="900"/>
                    </a:p>
                  </a:txBody>
                  <a:tcPr marT="0" marB="0" marR="0" marL="0"/>
                </a:tc>
              </a:tr>
              <a:tr h="227325">
                <a:tc>
                  <a:txBody>
                    <a:bodyPr/>
                    <a:lstStyle/>
                    <a:p>
                      <a:pPr indent="0" lvl="0" marL="0" rtl="0" algn="ctr">
                        <a:spcBef>
                          <a:spcPts val="0"/>
                        </a:spcBef>
                        <a:spcAft>
                          <a:spcPts val="0"/>
                        </a:spcAft>
                        <a:buNone/>
                      </a:pPr>
                      <a:r>
                        <a:rPr lang="en" sz="900"/>
                        <a:t>1100</a:t>
                      </a:r>
                      <a:endParaRPr sz="900"/>
                    </a:p>
                  </a:txBody>
                  <a:tcPr marT="0" marB="0" marR="0" marL="0"/>
                </a:tc>
                <a:tc>
                  <a:txBody>
                    <a:bodyPr/>
                    <a:lstStyle/>
                    <a:p>
                      <a:pPr indent="0" lvl="0" marL="0" rtl="0" algn="ctr">
                        <a:spcBef>
                          <a:spcPts val="0"/>
                        </a:spcBef>
                        <a:spcAft>
                          <a:spcPts val="0"/>
                        </a:spcAft>
                        <a:buNone/>
                      </a:pPr>
                      <a:r>
                        <a:rPr lang="en" sz="900"/>
                        <a:t>1100001</a:t>
                      </a:r>
                      <a:endParaRPr sz="900"/>
                    </a:p>
                  </a:txBody>
                  <a:tcPr marT="0" marB="0" marR="0" marL="0"/>
                </a:tc>
                <a:tc>
                  <a:txBody>
                    <a:bodyPr/>
                    <a:lstStyle/>
                    <a:p>
                      <a:pPr indent="0" lvl="0" marL="0" rtl="0" algn="ctr">
                        <a:spcBef>
                          <a:spcPts val="0"/>
                        </a:spcBef>
                        <a:spcAft>
                          <a:spcPts val="0"/>
                        </a:spcAft>
                        <a:buNone/>
                      </a:pPr>
                      <a:r>
                        <a:rPr lang="en" sz="900"/>
                        <a:t>3</a:t>
                      </a:r>
                      <a:endParaRPr sz="900"/>
                    </a:p>
                  </a:txBody>
                  <a:tcPr marT="0" marB="0" marR="0" marL="0"/>
                </a:tc>
              </a:tr>
              <a:tr h="227325">
                <a:tc>
                  <a:txBody>
                    <a:bodyPr/>
                    <a:lstStyle/>
                    <a:p>
                      <a:pPr indent="0" lvl="0" marL="0" rtl="0" algn="ctr">
                        <a:spcBef>
                          <a:spcPts val="0"/>
                        </a:spcBef>
                        <a:spcAft>
                          <a:spcPts val="0"/>
                        </a:spcAft>
                        <a:buNone/>
                      </a:pPr>
                      <a:r>
                        <a:rPr lang="en" sz="900"/>
                        <a:t>1101</a:t>
                      </a:r>
                      <a:endParaRPr sz="900"/>
                    </a:p>
                  </a:txBody>
                  <a:tcPr marT="0" marB="0" marR="0" marL="0"/>
                </a:tc>
                <a:tc>
                  <a:txBody>
                    <a:bodyPr/>
                    <a:lstStyle/>
                    <a:p>
                      <a:pPr indent="0" lvl="0" marL="0" rtl="0" algn="ctr">
                        <a:spcBef>
                          <a:spcPts val="0"/>
                        </a:spcBef>
                        <a:spcAft>
                          <a:spcPts val="0"/>
                        </a:spcAft>
                        <a:buNone/>
                      </a:pPr>
                      <a:r>
                        <a:rPr lang="en" sz="900"/>
                        <a:t>1100110</a:t>
                      </a:r>
                      <a:endParaRPr sz="900"/>
                    </a:p>
                  </a:txBody>
                  <a:tcPr marT="0" marB="0" marR="0" marL="0"/>
                </a:tc>
                <a:tc>
                  <a:txBody>
                    <a:bodyPr/>
                    <a:lstStyle/>
                    <a:p>
                      <a:pPr indent="0" lvl="0" marL="0" rtl="0" algn="ctr">
                        <a:spcBef>
                          <a:spcPts val="0"/>
                        </a:spcBef>
                        <a:spcAft>
                          <a:spcPts val="0"/>
                        </a:spcAft>
                        <a:buNone/>
                      </a:pPr>
                      <a:r>
                        <a:rPr lang="en" sz="900"/>
                        <a:t>4</a:t>
                      </a:r>
                      <a:endParaRPr sz="900"/>
                    </a:p>
                  </a:txBody>
                  <a:tcPr marT="0" marB="0" marR="0" marL="0"/>
                </a:tc>
              </a:tr>
              <a:tr h="227325">
                <a:tc>
                  <a:txBody>
                    <a:bodyPr/>
                    <a:lstStyle/>
                    <a:p>
                      <a:pPr indent="0" lvl="0" marL="0" rtl="0" algn="ctr">
                        <a:spcBef>
                          <a:spcPts val="0"/>
                        </a:spcBef>
                        <a:spcAft>
                          <a:spcPts val="0"/>
                        </a:spcAft>
                        <a:buNone/>
                      </a:pPr>
                      <a:r>
                        <a:rPr lang="en" sz="900"/>
                        <a:t>1110</a:t>
                      </a:r>
                      <a:endParaRPr sz="900"/>
                    </a:p>
                  </a:txBody>
                  <a:tcPr marT="0" marB="0" marR="0" marL="0"/>
                </a:tc>
                <a:tc>
                  <a:txBody>
                    <a:bodyPr/>
                    <a:lstStyle/>
                    <a:p>
                      <a:pPr indent="0" lvl="0" marL="0" rtl="0" algn="ctr">
                        <a:spcBef>
                          <a:spcPts val="0"/>
                        </a:spcBef>
                        <a:spcAft>
                          <a:spcPts val="0"/>
                        </a:spcAft>
                        <a:buNone/>
                      </a:pPr>
                      <a:r>
                        <a:rPr lang="en" sz="900"/>
                        <a:t>1111000</a:t>
                      </a:r>
                      <a:endParaRPr sz="900"/>
                    </a:p>
                  </a:txBody>
                  <a:tcPr marT="0" marB="0" marR="0" marL="0"/>
                </a:tc>
                <a:tc>
                  <a:txBody>
                    <a:bodyPr/>
                    <a:lstStyle/>
                    <a:p>
                      <a:pPr indent="0" lvl="0" marL="0" rtl="0" algn="ctr">
                        <a:spcBef>
                          <a:spcPts val="0"/>
                        </a:spcBef>
                        <a:spcAft>
                          <a:spcPts val="0"/>
                        </a:spcAft>
                        <a:buNone/>
                      </a:pPr>
                      <a:r>
                        <a:rPr lang="en" sz="900"/>
                        <a:t>3</a:t>
                      </a:r>
                      <a:endParaRPr sz="900"/>
                    </a:p>
                  </a:txBody>
                  <a:tcPr marT="0" marB="0" marR="0" marL="0"/>
                </a:tc>
              </a:tr>
              <a:tr h="227325">
                <a:tc>
                  <a:txBody>
                    <a:bodyPr/>
                    <a:lstStyle/>
                    <a:p>
                      <a:pPr indent="0" lvl="0" marL="0" rtl="0" algn="ctr">
                        <a:spcBef>
                          <a:spcPts val="0"/>
                        </a:spcBef>
                        <a:spcAft>
                          <a:spcPts val="0"/>
                        </a:spcAft>
                        <a:buNone/>
                      </a:pPr>
                      <a:r>
                        <a:rPr lang="en" sz="900"/>
                        <a:t>1111</a:t>
                      </a:r>
                      <a:endParaRPr sz="900"/>
                    </a:p>
                  </a:txBody>
                  <a:tcPr marT="0" marB="0" marR="0" marL="0"/>
                </a:tc>
                <a:tc>
                  <a:txBody>
                    <a:bodyPr/>
                    <a:lstStyle/>
                    <a:p>
                      <a:pPr indent="0" lvl="0" marL="0" rtl="0" algn="ctr">
                        <a:spcBef>
                          <a:spcPts val="0"/>
                        </a:spcBef>
                        <a:spcAft>
                          <a:spcPts val="0"/>
                        </a:spcAft>
                        <a:buNone/>
                      </a:pPr>
                      <a:r>
                        <a:rPr lang="en" sz="900"/>
                        <a:t>1111111</a:t>
                      </a:r>
                      <a:endParaRPr sz="900"/>
                    </a:p>
                  </a:txBody>
                  <a:tcPr marT="0" marB="0" marR="0" marL="0"/>
                </a:tc>
                <a:tc>
                  <a:txBody>
                    <a:bodyPr/>
                    <a:lstStyle/>
                    <a:p>
                      <a:pPr indent="0" lvl="0" marL="0" rtl="0" algn="ctr">
                        <a:spcBef>
                          <a:spcPts val="0"/>
                        </a:spcBef>
                        <a:spcAft>
                          <a:spcPts val="0"/>
                        </a:spcAft>
                        <a:buNone/>
                      </a:pPr>
                      <a:r>
                        <a:rPr lang="en" sz="900"/>
                        <a:t>7</a:t>
                      </a:r>
                      <a:endParaRPr sz="900"/>
                    </a:p>
                  </a:txBody>
                  <a:tcPr marT="0" marB="0" marR="0" marL="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c7205cde05_0_7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 Test</a:t>
            </a:r>
            <a:endParaRPr/>
          </a:p>
        </p:txBody>
      </p:sp>
      <p:sp>
        <p:nvSpPr>
          <p:cNvPr id="236" name="Google Shape;236;g3c7205cde05_0_75"/>
          <p:cNvSpPr txBox="1"/>
          <p:nvPr>
            <p:ph idx="1" type="body"/>
          </p:nvPr>
        </p:nvSpPr>
        <p:spPr>
          <a:xfrm>
            <a:off x="729450" y="2078875"/>
            <a:ext cx="32955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 1111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Codeword : 1111111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Error during Tx : 1111100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Calculate</a:t>
            </a:r>
            <a:r>
              <a:rPr lang="en"/>
              <a:t> answer ?</a:t>
            </a:r>
            <a:endParaRPr/>
          </a:p>
        </p:txBody>
      </p:sp>
      <p:pic>
        <p:nvPicPr>
          <p:cNvPr id="237" name="Google Shape;237;g3c7205cde05_0_75" title="Screenshot from 2026-02-11 05-30-28.png"/>
          <p:cNvPicPr preferRelativeResize="0"/>
          <p:nvPr/>
        </p:nvPicPr>
        <p:blipFill>
          <a:blip r:embed="rId3">
            <a:alphaModFix/>
          </a:blip>
          <a:stretch>
            <a:fillRect/>
          </a:stretch>
        </p:blipFill>
        <p:spPr>
          <a:xfrm>
            <a:off x="5619600" y="2528700"/>
            <a:ext cx="2600325" cy="790575"/>
          </a:xfrm>
          <a:prstGeom prst="rect">
            <a:avLst/>
          </a:prstGeom>
          <a:noFill/>
          <a:ln>
            <a:noFill/>
          </a:ln>
        </p:spPr>
      </p:pic>
      <p:sp>
        <p:nvSpPr>
          <p:cNvPr id="238" name="Google Shape;238;g3c7205cde05_0_75"/>
          <p:cNvSpPr txBox="1"/>
          <p:nvPr/>
        </p:nvSpPr>
        <p:spPr>
          <a:xfrm>
            <a:off x="6210463" y="2085575"/>
            <a:ext cx="1834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 Parity-check matrix H</a:t>
            </a:r>
            <a:endParaRPr b="1" sz="1300">
              <a:solidFill>
                <a:schemeClr val="accent1"/>
              </a:solidFill>
              <a:latin typeface="Lato"/>
              <a:ea typeface="Lato"/>
              <a:cs typeface="Lato"/>
              <a:sym typeface="Lato"/>
            </a:endParaRPr>
          </a:p>
        </p:txBody>
      </p:sp>
      <p:sp>
        <p:nvSpPr>
          <p:cNvPr id="239" name="Google Shape;239;g3c7205cde05_0_75"/>
          <p:cNvSpPr txBox="1"/>
          <p:nvPr/>
        </p:nvSpPr>
        <p:spPr>
          <a:xfrm>
            <a:off x="8160425" y="2568075"/>
            <a:ext cx="4488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P1</a:t>
            </a:r>
            <a:endParaRPr sz="1300">
              <a:solidFill>
                <a:schemeClr val="accent1"/>
              </a:solidFill>
              <a:latin typeface="Lato"/>
              <a:ea typeface="Lato"/>
              <a:cs typeface="Lato"/>
              <a:sym typeface="Lato"/>
            </a:endParaRPr>
          </a:p>
          <a:p>
            <a:pPr indent="0" lvl="0" marL="0" rtl="0" algn="l">
              <a:spcBef>
                <a:spcPts val="0"/>
              </a:spcBef>
              <a:spcAft>
                <a:spcPts val="0"/>
              </a:spcAft>
              <a:buNone/>
            </a:pPr>
            <a:r>
              <a:rPr lang="en" sz="1300">
                <a:solidFill>
                  <a:schemeClr val="accent1"/>
                </a:solidFill>
                <a:latin typeface="Lato"/>
                <a:ea typeface="Lato"/>
                <a:cs typeface="Lato"/>
                <a:sym typeface="Lato"/>
              </a:rPr>
              <a:t>P2</a:t>
            </a:r>
            <a:endParaRPr sz="1300">
              <a:solidFill>
                <a:schemeClr val="accent1"/>
              </a:solidFill>
              <a:latin typeface="Lato"/>
              <a:ea typeface="Lato"/>
              <a:cs typeface="Lato"/>
              <a:sym typeface="Lato"/>
            </a:endParaRPr>
          </a:p>
          <a:p>
            <a:pPr indent="0" lvl="0" marL="0" rtl="0" algn="l">
              <a:spcBef>
                <a:spcPts val="0"/>
              </a:spcBef>
              <a:spcAft>
                <a:spcPts val="0"/>
              </a:spcAft>
              <a:buNone/>
            </a:pPr>
            <a:r>
              <a:rPr lang="en" sz="1300">
                <a:solidFill>
                  <a:schemeClr val="accent1"/>
                </a:solidFill>
                <a:latin typeface="Lato"/>
                <a:ea typeface="Lato"/>
                <a:cs typeface="Lato"/>
                <a:sym typeface="Lato"/>
              </a:rPr>
              <a:t>P4</a:t>
            </a:r>
            <a:endParaRPr sz="1300">
              <a:solidFill>
                <a:schemeClr val="accent1"/>
              </a:solidFill>
              <a:latin typeface="Lato"/>
              <a:ea typeface="Lato"/>
              <a:cs typeface="Lato"/>
              <a:sym typeface="Lato"/>
            </a:endParaRPr>
          </a:p>
        </p:txBody>
      </p:sp>
      <p:sp>
        <p:nvSpPr>
          <p:cNvPr id="240" name="Google Shape;240;g3c7205cde05_0_75"/>
          <p:cNvSpPr txBox="1"/>
          <p:nvPr/>
        </p:nvSpPr>
        <p:spPr>
          <a:xfrm>
            <a:off x="6210475" y="3377500"/>
            <a:ext cx="2009400" cy="2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1    2   3    4     5    6     7</a:t>
            </a:r>
            <a:endParaRPr sz="1300">
              <a:solidFill>
                <a:schemeClr val="accent1"/>
              </a:solidFill>
              <a:latin typeface="Lato"/>
              <a:ea typeface="Lato"/>
              <a:cs typeface="Lato"/>
              <a:sym typeface="Lato"/>
            </a:endParaRPr>
          </a:p>
          <a:p>
            <a:pPr indent="0" lvl="0" marL="0" rtl="0" algn="l">
              <a:spcBef>
                <a:spcPts val="0"/>
              </a:spcBef>
              <a:spcAft>
                <a:spcPts val="0"/>
              </a:spcAft>
              <a:buNone/>
            </a:pPr>
            <a:r>
              <a:rPr lang="en" sz="1200">
                <a:solidFill>
                  <a:schemeClr val="accent1"/>
                </a:solidFill>
                <a:latin typeface="Lato"/>
                <a:ea typeface="Lato"/>
                <a:cs typeface="Lato"/>
                <a:sym typeface="Lato"/>
              </a:rPr>
              <a:t>AFFECTED BIT POSITION</a:t>
            </a:r>
            <a:endParaRPr sz="1200">
              <a:solidFill>
                <a:schemeClr val="accent1"/>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c7205cde05_0_6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940"/>
              <a:t>Single Error Correction - Double Error Detection (SEC-DED)</a:t>
            </a:r>
            <a:endParaRPr sz="1940"/>
          </a:p>
        </p:txBody>
      </p:sp>
      <p:sp>
        <p:nvSpPr>
          <p:cNvPr id="246" name="Google Shape;246;g3c7205cde05_0_6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latin typeface="Consolas"/>
                <a:ea typeface="Consolas"/>
                <a:cs typeface="Consolas"/>
                <a:sym typeface="Consolas"/>
              </a:rPr>
              <a:t>HAMMING CODE (SEC-DED) LOGIC</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SYNDROME | GLOBAL PARITY | RESULT           | ACTION</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000      | Even (Valid)  | No Errors        | Accept Data</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Not 000  | Odd (Invalid) | Single Bit Error | Correct Bit S</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Not 000  | Even (Valid)  | Double Bit Error | REJECT DATA</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000      | Odd (Invalid) | P-bit Error      | Fix P-bit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EXAMPLE (1111100 1)</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1. Syndrome Check: Result is 011 (Points to Bit 3)</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2. Global Check:   Result is Even (Parity looks "Correct")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3. LOGIC:          Non-Zero Syndrome + Even Parity </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4. CONCLUSION:     Double Bit Error Detected (Cannot Fix)</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6"/>
          <p:cNvSpPr txBox="1"/>
          <p:nvPr>
            <p:ph type="title"/>
          </p:nvPr>
        </p:nvSpPr>
        <p:spPr>
          <a:xfrm>
            <a:off x="730000" y="1318650"/>
            <a:ext cx="6723900" cy="1381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n"/>
              <a:t>Next Lecture: OSI Model</a:t>
            </a:r>
            <a:endParaRPr/>
          </a:p>
        </p:txBody>
      </p:sp>
      <p:pic>
        <p:nvPicPr>
          <p:cNvPr id="252" name="Google Shape;252;p16"/>
          <p:cNvPicPr preferRelativeResize="0"/>
          <p:nvPr/>
        </p:nvPicPr>
        <p:blipFill rotWithShape="1">
          <a:blip r:embed="rId3">
            <a:alphaModFix/>
          </a:blip>
          <a:srcRect b="0" l="0" r="0" t="23786"/>
          <a:stretch/>
        </p:blipFill>
        <p:spPr>
          <a:xfrm>
            <a:off x="1799423" y="1831500"/>
            <a:ext cx="7136215" cy="3063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