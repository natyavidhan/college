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3" r:id="rId24"/>
    <p:sldId id="284" r:id="rId25"/>
    <p:sldId id="285" r:id="rId26"/>
  </p:sldIdLst>
  <p:sldSz cx="9118600" cy="6832600"/>
  <p:notesSz cx="9118600" cy="683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8"/>
    <p:restoredTop sz="94543"/>
  </p:normalViewPr>
  <p:slideViewPr>
    <p:cSldViewPr>
      <p:cViewPr varScale="1">
        <p:scale>
          <a:sx n="97" d="100"/>
          <a:sy n="97" d="100"/>
        </p:scale>
        <p:origin x="1360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17" d="100"/>
          <a:sy n="117" d="100"/>
        </p:scale>
        <p:origin x="120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65725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CC292-3FDC-7D49-8D84-10692ABC9DEC}" type="datetimeFigureOut">
              <a:rPr lang="en-US" smtClean="0"/>
              <a:t>1/23/24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19425" y="854075"/>
            <a:ext cx="3079750" cy="2306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1225" y="3287713"/>
            <a:ext cx="7296150" cy="269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8970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65725" y="648970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7C21F-3F65-2944-BCDB-D97ECE39E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02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7C21F-3F65-2944-BCDB-D97ECE39E8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45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3100" y="0"/>
            <a:ext cx="609600" cy="68326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2501900"/>
            <a:ext cx="7302500" cy="2143125"/>
          </a:xfrm>
          <a:custGeom>
            <a:avLst/>
            <a:gdLst/>
            <a:ahLst/>
            <a:cxnLst/>
            <a:rect l="l" t="t" r="r" b="b"/>
            <a:pathLst>
              <a:path w="7302500" h="2143125">
                <a:moveTo>
                  <a:pt x="0" y="2142744"/>
                </a:moveTo>
                <a:lnTo>
                  <a:pt x="7302500" y="2142744"/>
                </a:lnTo>
                <a:lnTo>
                  <a:pt x="7302500" y="0"/>
                </a:lnTo>
                <a:lnTo>
                  <a:pt x="0" y="0"/>
                </a:lnTo>
                <a:lnTo>
                  <a:pt x="0" y="2142744"/>
                </a:lnTo>
                <a:close/>
              </a:path>
            </a:pathLst>
          </a:custGeom>
          <a:solidFill>
            <a:srgbClr val="677228">
              <a:alpha val="43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302500" y="2425700"/>
            <a:ext cx="1816100" cy="2291080"/>
          </a:xfrm>
          <a:custGeom>
            <a:avLst/>
            <a:gdLst/>
            <a:ahLst/>
            <a:cxnLst/>
            <a:rect l="l" t="t" r="r" b="b"/>
            <a:pathLst>
              <a:path w="1816100" h="2291079">
                <a:moveTo>
                  <a:pt x="0" y="0"/>
                </a:moveTo>
                <a:lnTo>
                  <a:pt x="0" y="2290572"/>
                </a:lnTo>
                <a:lnTo>
                  <a:pt x="1816100" y="2290572"/>
                </a:lnTo>
                <a:lnTo>
                  <a:pt x="1816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5402" y="744220"/>
            <a:ext cx="8527795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67790" y="3826256"/>
            <a:ext cx="6383020" cy="170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33339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5930" y="1571498"/>
            <a:ext cx="3966591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96079" y="1571498"/>
            <a:ext cx="3966591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066530" y="1436624"/>
            <a:ext cx="52069" cy="5396230"/>
          </a:xfrm>
          <a:custGeom>
            <a:avLst/>
            <a:gdLst/>
            <a:ahLst/>
            <a:cxnLst/>
            <a:rect l="l" t="t" r="r" b="b"/>
            <a:pathLst>
              <a:path w="52070" h="5396230">
                <a:moveTo>
                  <a:pt x="0" y="5395976"/>
                </a:moveTo>
                <a:lnTo>
                  <a:pt x="52070" y="5395976"/>
                </a:lnTo>
                <a:lnTo>
                  <a:pt x="52070" y="0"/>
                </a:lnTo>
                <a:lnTo>
                  <a:pt x="0" y="0"/>
                </a:lnTo>
                <a:lnTo>
                  <a:pt x="0" y="5395976"/>
                </a:lnTo>
                <a:close/>
              </a:path>
            </a:pathLst>
          </a:custGeom>
          <a:solidFill>
            <a:srgbClr val="6772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923273" y="1436624"/>
            <a:ext cx="66040" cy="5396230"/>
          </a:xfrm>
          <a:custGeom>
            <a:avLst/>
            <a:gdLst/>
            <a:ahLst/>
            <a:cxnLst/>
            <a:rect l="l" t="t" r="r" b="b"/>
            <a:pathLst>
              <a:path w="66040" h="5396230">
                <a:moveTo>
                  <a:pt x="0" y="5395976"/>
                </a:moveTo>
                <a:lnTo>
                  <a:pt x="65531" y="5395976"/>
                </a:lnTo>
                <a:lnTo>
                  <a:pt x="65531" y="0"/>
                </a:lnTo>
                <a:lnTo>
                  <a:pt x="0" y="0"/>
                </a:lnTo>
                <a:lnTo>
                  <a:pt x="0" y="5395976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88805" y="1436624"/>
            <a:ext cx="78105" cy="5396230"/>
          </a:xfrm>
          <a:custGeom>
            <a:avLst/>
            <a:gdLst/>
            <a:ahLst/>
            <a:cxnLst/>
            <a:rect l="l" t="t" r="r" b="b"/>
            <a:pathLst>
              <a:path w="78104" h="5396230">
                <a:moveTo>
                  <a:pt x="0" y="0"/>
                </a:moveTo>
                <a:lnTo>
                  <a:pt x="0" y="5395976"/>
                </a:lnTo>
                <a:lnTo>
                  <a:pt x="77724" y="5395976"/>
                </a:lnTo>
                <a:lnTo>
                  <a:pt x="77724" y="0"/>
                </a:lnTo>
                <a:lnTo>
                  <a:pt x="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066530" y="1436624"/>
            <a:ext cx="52069" cy="5396230"/>
          </a:xfrm>
          <a:custGeom>
            <a:avLst/>
            <a:gdLst/>
            <a:ahLst/>
            <a:cxnLst/>
            <a:rect l="l" t="t" r="r" b="b"/>
            <a:pathLst>
              <a:path w="52070" h="5396230">
                <a:moveTo>
                  <a:pt x="0" y="5395976"/>
                </a:moveTo>
                <a:lnTo>
                  <a:pt x="52070" y="5395976"/>
                </a:lnTo>
                <a:lnTo>
                  <a:pt x="52070" y="0"/>
                </a:lnTo>
                <a:lnTo>
                  <a:pt x="0" y="0"/>
                </a:lnTo>
                <a:lnTo>
                  <a:pt x="0" y="5395976"/>
                </a:lnTo>
                <a:close/>
              </a:path>
            </a:pathLst>
          </a:custGeom>
          <a:solidFill>
            <a:srgbClr val="6772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923273" y="1436624"/>
            <a:ext cx="66040" cy="5396230"/>
          </a:xfrm>
          <a:custGeom>
            <a:avLst/>
            <a:gdLst/>
            <a:ahLst/>
            <a:cxnLst/>
            <a:rect l="l" t="t" r="r" b="b"/>
            <a:pathLst>
              <a:path w="66040" h="5396230">
                <a:moveTo>
                  <a:pt x="0" y="5395976"/>
                </a:moveTo>
                <a:lnTo>
                  <a:pt x="65531" y="5395976"/>
                </a:lnTo>
                <a:lnTo>
                  <a:pt x="65531" y="0"/>
                </a:lnTo>
                <a:lnTo>
                  <a:pt x="0" y="0"/>
                </a:lnTo>
                <a:lnTo>
                  <a:pt x="0" y="5395976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88806" y="1436624"/>
            <a:ext cx="78105" cy="5396230"/>
          </a:xfrm>
          <a:custGeom>
            <a:avLst/>
            <a:gdLst/>
            <a:ahLst/>
            <a:cxnLst/>
            <a:rect l="l" t="t" r="r" b="b"/>
            <a:pathLst>
              <a:path w="78104" h="5396230">
                <a:moveTo>
                  <a:pt x="0" y="0"/>
                </a:moveTo>
                <a:lnTo>
                  <a:pt x="0" y="5395976"/>
                </a:lnTo>
                <a:lnTo>
                  <a:pt x="77724" y="5395976"/>
                </a:lnTo>
                <a:lnTo>
                  <a:pt x="77724" y="0"/>
                </a:lnTo>
                <a:lnTo>
                  <a:pt x="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118600" cy="1437005"/>
          </a:xfrm>
          <a:custGeom>
            <a:avLst/>
            <a:gdLst/>
            <a:ahLst/>
            <a:cxnLst/>
            <a:rect l="l" t="t" r="r" b="b"/>
            <a:pathLst>
              <a:path w="9118600" h="1437005">
                <a:moveTo>
                  <a:pt x="0" y="1436624"/>
                </a:moveTo>
                <a:lnTo>
                  <a:pt x="9118600" y="1436623"/>
                </a:lnTo>
                <a:lnTo>
                  <a:pt x="9118600" y="0"/>
                </a:lnTo>
                <a:lnTo>
                  <a:pt x="0" y="0"/>
                </a:lnTo>
                <a:lnTo>
                  <a:pt x="0" y="1436624"/>
                </a:lnTo>
                <a:close/>
              </a:path>
            </a:pathLst>
          </a:custGeom>
          <a:solidFill>
            <a:srgbClr val="677228">
              <a:alpha val="36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590" y="86161"/>
            <a:ext cx="8661419" cy="112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8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3890" y="1535404"/>
            <a:ext cx="7830819" cy="3952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33339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05002" y="6654451"/>
            <a:ext cx="3088004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5930" y="6354318"/>
            <a:ext cx="2097278" cy="3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845297" y="6585002"/>
            <a:ext cx="927734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5002" y="6643623"/>
            <a:ext cx="30880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 MT"/>
                <a:cs typeface="Arial MT"/>
              </a:rPr>
              <a:t>Copyright</a:t>
            </a:r>
            <a:r>
              <a:rPr sz="900" dirty="0">
                <a:latin typeface="Arial MT"/>
                <a:cs typeface="Arial MT"/>
              </a:rPr>
              <a:t> © </a:t>
            </a:r>
            <a:r>
              <a:rPr sz="900" spc="-5" dirty="0">
                <a:latin typeface="Arial MT"/>
                <a:cs typeface="Arial MT"/>
              </a:rPr>
              <a:t>2007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5" dirty="0">
                <a:latin typeface="Arial MT"/>
                <a:cs typeface="Arial MT"/>
              </a:rPr>
              <a:t>Ramez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5" dirty="0">
                <a:latin typeface="Arial MT"/>
                <a:cs typeface="Arial MT"/>
              </a:rPr>
              <a:t>Elmasri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5" dirty="0">
                <a:latin typeface="Arial MT"/>
                <a:cs typeface="Arial MT"/>
              </a:rPr>
              <a:t>and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5" dirty="0">
                <a:latin typeface="Arial MT"/>
                <a:cs typeface="Arial MT"/>
              </a:rPr>
              <a:t>Shamkant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5" dirty="0">
                <a:latin typeface="Arial MT"/>
                <a:cs typeface="Arial MT"/>
              </a:rPr>
              <a:t>B.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Navathe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00" y="5936995"/>
            <a:ext cx="690180" cy="8321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5402" y="744220"/>
            <a:ext cx="370903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5" dirty="0">
                <a:solidFill>
                  <a:srgbClr val="9A0033"/>
                </a:solidFill>
                <a:latin typeface="Arial MT"/>
                <a:cs typeface="Arial MT"/>
              </a:rPr>
              <a:t>Chapter</a:t>
            </a:r>
            <a:r>
              <a:rPr sz="6600" spc="-65" dirty="0">
                <a:solidFill>
                  <a:srgbClr val="9A0033"/>
                </a:solidFill>
                <a:latin typeface="Arial MT"/>
                <a:cs typeface="Arial MT"/>
              </a:rPr>
              <a:t> </a:t>
            </a:r>
            <a:r>
              <a:rPr sz="6600" spc="-5" dirty="0">
                <a:solidFill>
                  <a:srgbClr val="9A0033"/>
                </a:solidFill>
                <a:latin typeface="Arial MT"/>
                <a:cs typeface="Arial MT"/>
              </a:rPr>
              <a:t>1</a:t>
            </a:r>
            <a:endParaRPr sz="6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602" y="2600451"/>
            <a:ext cx="509905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33339A"/>
                </a:solidFill>
                <a:latin typeface="Arial MT"/>
                <a:cs typeface="Arial MT"/>
              </a:rPr>
              <a:t>Introduction:</a:t>
            </a:r>
            <a:r>
              <a:rPr sz="3200" spc="-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3339A"/>
                </a:solidFill>
                <a:latin typeface="Arial MT"/>
                <a:cs typeface="Arial MT"/>
              </a:rPr>
              <a:t>Databases</a:t>
            </a:r>
            <a:r>
              <a:rPr sz="32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3339A"/>
                </a:solidFill>
                <a:latin typeface="Arial MT"/>
                <a:cs typeface="Arial MT"/>
              </a:rPr>
              <a:t>and </a:t>
            </a:r>
            <a:r>
              <a:rPr sz="3200" spc="-87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32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3339A"/>
                </a:solidFill>
                <a:latin typeface="Arial MT"/>
                <a:cs typeface="Arial MT"/>
              </a:rPr>
              <a:t>Users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661923"/>
            <a:ext cx="1473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25574"/>
            <a:ext cx="7870825" cy="41275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Types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Databases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and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Applications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Basic</a:t>
            </a:r>
            <a:r>
              <a:rPr sz="2800" spc="-4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Definitions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Typical</a:t>
            </a:r>
            <a:r>
              <a:rPr sz="2800" spc="-3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DBMS</a:t>
            </a:r>
            <a:r>
              <a:rPr sz="2800" spc="-3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Functionality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Example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(UNIVERSITY)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Main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Characteristics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the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Approach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800" spc="-4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Users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Advantages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Using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the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Approach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When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Not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to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Use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Types of Databases and </a:t>
            </a:r>
            <a:r>
              <a:rPr spc="-10" dirty="0"/>
              <a:t>Database </a:t>
            </a:r>
            <a:r>
              <a:rPr spc="-99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37459"/>
            <a:ext cx="8097520" cy="455422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Traditional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Applications:</a:t>
            </a:r>
            <a:endParaRPr sz="24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53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Numeric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Textual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Databases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More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Recent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Applications:</a:t>
            </a:r>
            <a:endParaRPr sz="24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53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Multimedia</a:t>
            </a:r>
            <a:r>
              <a:rPr sz="22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Databases</a:t>
            </a:r>
            <a:endParaRPr sz="22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Geographic</a:t>
            </a:r>
            <a:r>
              <a:rPr sz="22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Information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Systems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(GIS)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2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2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Warehouses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Real-time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Active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Databases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Many</a:t>
            </a:r>
            <a:r>
              <a:rPr sz="22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other</a:t>
            </a:r>
            <a:r>
              <a:rPr sz="22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applications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First part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book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focuses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on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traditional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applications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0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i="1" dirty="0">
                <a:solidFill>
                  <a:srgbClr val="33339A"/>
                </a:solidFill>
                <a:latin typeface="Arial"/>
                <a:cs typeface="Arial"/>
              </a:rPr>
              <a:t>A</a:t>
            </a:r>
            <a:r>
              <a:rPr sz="2400" i="1" spc="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number</a:t>
            </a:r>
            <a:r>
              <a:rPr sz="2400" i="1" spc="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A"/>
                </a:solidFill>
                <a:latin typeface="Arial"/>
                <a:cs typeface="Arial"/>
              </a:rPr>
              <a:t>of</a:t>
            </a:r>
            <a:r>
              <a:rPr sz="2400" i="1" spc="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recent</a:t>
            </a:r>
            <a:r>
              <a:rPr sz="2400" i="1" spc="1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applications</a:t>
            </a:r>
            <a:r>
              <a:rPr sz="2400" i="1" spc="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are</a:t>
            </a:r>
            <a:r>
              <a:rPr sz="2400" i="1" spc="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described</a:t>
            </a:r>
            <a:r>
              <a:rPr sz="2400" i="1" spc="1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later</a:t>
            </a:r>
            <a:r>
              <a:rPr sz="2400" i="1" spc="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in</a:t>
            </a:r>
            <a:r>
              <a:rPr sz="2400" i="1" spc="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A"/>
                </a:solidFill>
                <a:latin typeface="Arial"/>
                <a:cs typeface="Arial"/>
              </a:rPr>
              <a:t>the </a:t>
            </a:r>
            <a:r>
              <a:rPr sz="2400" i="1" spc="-65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book</a:t>
            </a:r>
            <a:r>
              <a:rPr sz="2400" i="1" dirty="0">
                <a:solidFill>
                  <a:srgbClr val="33339A"/>
                </a:solidFill>
                <a:latin typeface="Arial"/>
                <a:cs typeface="Arial"/>
              </a:rPr>
              <a:t> (for</a:t>
            </a:r>
            <a:r>
              <a:rPr sz="2400" i="1" spc="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example,</a:t>
            </a:r>
            <a:r>
              <a:rPr sz="2400" i="1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Chapters</a:t>
            </a:r>
            <a:r>
              <a:rPr sz="2400" i="1" spc="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24,26,28,29,30)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661923"/>
            <a:ext cx="3404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</a:t>
            </a:r>
            <a:r>
              <a:rPr spc="-40" dirty="0"/>
              <a:t> </a:t>
            </a:r>
            <a:r>
              <a:rPr spc="-10" dirty="0"/>
              <a:t>Definitions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59255"/>
            <a:ext cx="8110220" cy="447357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34"/>
              </a:spcBef>
              <a:buClr>
                <a:srgbClr val="9A0033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33339A"/>
                </a:solidFill>
                <a:latin typeface="Arial"/>
                <a:cs typeface="Arial"/>
              </a:rPr>
              <a:t>Database: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29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collection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related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data.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lr>
                <a:srgbClr val="9A0033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33339A"/>
                </a:solidFill>
                <a:latin typeface="Arial"/>
                <a:cs typeface="Arial"/>
              </a:rPr>
              <a:t>Data: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40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Known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facts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that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can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be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recorded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have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an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implicit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meaning.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35"/>
              </a:spcBef>
              <a:buClr>
                <a:srgbClr val="9A0033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10" dirty="0">
                <a:solidFill>
                  <a:srgbClr val="33339A"/>
                </a:solidFill>
                <a:latin typeface="Arial"/>
                <a:cs typeface="Arial"/>
              </a:rPr>
              <a:t>Mini-world:</a:t>
            </a:r>
            <a:endParaRPr sz="2000">
              <a:latin typeface="Arial"/>
              <a:cs typeface="Arial"/>
            </a:endParaRPr>
          </a:p>
          <a:p>
            <a:pPr marL="755015" marR="707390" lvl="1" indent="-285750">
              <a:lnSpc>
                <a:spcPct val="90100"/>
              </a:lnSpc>
              <a:spcBef>
                <a:spcPts val="480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Some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part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real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world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about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which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stored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database.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example,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student</a:t>
            </a:r>
            <a:r>
              <a:rPr sz="20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grades</a:t>
            </a:r>
            <a:r>
              <a:rPr sz="2000" spc="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transcripts</a:t>
            </a:r>
            <a:r>
              <a:rPr sz="20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at a </a:t>
            </a:r>
            <a:r>
              <a:rPr sz="2000" spc="-5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university.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29"/>
              </a:spcBef>
              <a:buClr>
                <a:srgbClr val="9A0033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33339A"/>
                </a:solidFill>
                <a:latin typeface="Arial"/>
                <a:cs typeface="Arial"/>
              </a:rPr>
              <a:t>Database</a:t>
            </a:r>
            <a:r>
              <a:rPr sz="2000" b="1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9A"/>
                </a:solidFill>
                <a:latin typeface="Arial"/>
                <a:cs typeface="Arial"/>
              </a:rPr>
              <a:t>Management</a:t>
            </a:r>
            <a:r>
              <a:rPr sz="2000" b="1" spc="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9A"/>
                </a:solidFill>
                <a:latin typeface="Arial"/>
                <a:cs typeface="Arial"/>
              </a:rPr>
              <a:t>System</a:t>
            </a:r>
            <a:r>
              <a:rPr sz="2000" b="1" spc="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9A"/>
                </a:solidFill>
                <a:latin typeface="Arial"/>
                <a:cs typeface="Arial"/>
              </a:rPr>
              <a:t>(DBMS):</a:t>
            </a:r>
            <a:endParaRPr sz="2000">
              <a:latin typeface="Arial"/>
              <a:cs typeface="Arial"/>
            </a:endParaRPr>
          </a:p>
          <a:p>
            <a:pPr marL="755650" marR="1003935" lvl="1" indent="-285750">
              <a:lnSpc>
                <a:spcPts val="2160"/>
              </a:lnSpc>
              <a:spcBef>
                <a:spcPts val="515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software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package/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system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facilitate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creation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and </a:t>
            </a:r>
            <a:r>
              <a:rPr sz="2000" spc="-5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maintenance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computerized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database.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04"/>
              </a:spcBef>
              <a:buClr>
                <a:srgbClr val="9A0033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33339A"/>
                </a:solidFill>
                <a:latin typeface="Arial"/>
                <a:cs typeface="Arial"/>
              </a:rPr>
              <a:t>Database</a:t>
            </a:r>
            <a:r>
              <a:rPr sz="2000" b="1" spc="-2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9A"/>
                </a:solidFill>
                <a:latin typeface="Arial"/>
                <a:cs typeface="Arial"/>
              </a:rPr>
              <a:t>System:</a:t>
            </a:r>
            <a:endParaRPr sz="2000">
              <a:latin typeface="Arial"/>
              <a:cs typeface="Arial"/>
            </a:endParaRPr>
          </a:p>
          <a:p>
            <a:pPr marL="755650" marR="5080" lvl="1" indent="-285750">
              <a:lnSpc>
                <a:spcPts val="2170"/>
              </a:lnSpc>
              <a:spcBef>
                <a:spcPts val="500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755015" algn="l"/>
                <a:tab pos="755650" algn="l"/>
                <a:tab pos="6336665" algn="l"/>
              </a:tabLst>
            </a:pP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DBMS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software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together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with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itself.	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Sometimes, the </a:t>
            </a:r>
            <a:r>
              <a:rPr sz="2000" spc="-5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applications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are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also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included.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725932"/>
            <a:ext cx="73107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Simplified</a:t>
            </a:r>
            <a:r>
              <a:rPr sz="3200" spc="5" dirty="0"/>
              <a:t> </a:t>
            </a:r>
            <a:r>
              <a:rPr sz="3200" spc="-10" dirty="0"/>
              <a:t>database</a:t>
            </a:r>
            <a:r>
              <a:rPr sz="3200" spc="10" dirty="0"/>
              <a:t> </a:t>
            </a:r>
            <a:r>
              <a:rPr sz="3200" spc="-10" dirty="0"/>
              <a:t>system</a:t>
            </a:r>
            <a:r>
              <a:rPr sz="3200" spc="10" dirty="0"/>
              <a:t> </a:t>
            </a:r>
            <a:r>
              <a:rPr sz="3200" spc="-10" dirty="0"/>
              <a:t>environment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326" y="1523081"/>
            <a:ext cx="5732173" cy="495417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661923"/>
            <a:ext cx="5613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Typical</a:t>
            </a:r>
            <a:r>
              <a:rPr spc="-15" dirty="0"/>
              <a:t> </a:t>
            </a:r>
            <a:r>
              <a:rPr spc="-5" dirty="0"/>
              <a:t>DBMS</a:t>
            </a:r>
            <a:r>
              <a:rPr spc="-15" dirty="0"/>
              <a:t> </a:t>
            </a:r>
            <a:r>
              <a:rPr spc="-10" dirty="0"/>
              <a:t>Functionality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611376"/>
            <a:ext cx="8185150" cy="4371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36575" indent="-342900">
              <a:lnSpc>
                <a:spcPct val="100000"/>
              </a:lnSpc>
              <a:spcBef>
                <a:spcPts val="100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Define</a:t>
            </a:r>
            <a:r>
              <a:rPr sz="2400" i="1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particular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in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terms of its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data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types, </a:t>
            </a:r>
            <a:r>
              <a:rPr sz="2400" spc="-65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structures,</a:t>
            </a:r>
            <a:r>
              <a:rPr sz="24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constraints</a:t>
            </a:r>
            <a:endParaRPr sz="2400">
              <a:latin typeface="Arial MT"/>
              <a:cs typeface="Arial MT"/>
            </a:endParaRPr>
          </a:p>
          <a:p>
            <a:pPr marL="354965" marR="855980" indent="-342900">
              <a:lnSpc>
                <a:spcPct val="100000"/>
              </a:lnSpc>
              <a:spcBef>
                <a:spcPts val="560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i="1" dirty="0">
                <a:solidFill>
                  <a:srgbClr val="33339A"/>
                </a:solidFill>
                <a:latin typeface="Arial"/>
                <a:cs typeface="Arial"/>
              </a:rPr>
              <a:t>Construct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or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Load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the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initial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contents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on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 </a:t>
            </a:r>
            <a:r>
              <a:rPr sz="2400" spc="-65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secondary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storage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medium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Manipulating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the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database:</a:t>
            </a:r>
            <a:endParaRPr sz="24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53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Retrieval: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Querying,</a:t>
            </a:r>
            <a:r>
              <a:rPr sz="22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generating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reports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2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Modification: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Insertions,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deletions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updates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its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content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Accessing</a:t>
            </a:r>
            <a:r>
              <a:rPr sz="22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through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Web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applications</a:t>
            </a:r>
            <a:endParaRPr sz="2200">
              <a:latin typeface="Arial MT"/>
              <a:cs typeface="Arial MT"/>
            </a:endParaRPr>
          </a:p>
          <a:p>
            <a:pPr marL="355600" marR="143510" indent="-342900">
              <a:lnSpc>
                <a:spcPct val="100000"/>
              </a:lnSpc>
              <a:spcBef>
                <a:spcPts val="555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Processing</a:t>
            </a:r>
            <a:r>
              <a:rPr sz="2400" i="1" spc="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and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33339A"/>
                </a:solidFill>
                <a:latin typeface="Arial"/>
                <a:cs typeface="Arial"/>
              </a:rPr>
              <a:t>Sharing</a:t>
            </a:r>
            <a:r>
              <a:rPr sz="2400" i="1" spc="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by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set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concurrent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users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and </a:t>
            </a:r>
            <a:r>
              <a:rPr sz="2400" spc="-65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application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programs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–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yet,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keeping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all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data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valid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A"/>
                </a:solidFill>
                <a:latin typeface="Arial MT"/>
                <a:cs typeface="Arial MT"/>
              </a:rPr>
              <a:t>consistent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661923"/>
            <a:ext cx="5613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Typical</a:t>
            </a:r>
            <a:r>
              <a:rPr spc="-15" dirty="0"/>
              <a:t> </a:t>
            </a:r>
            <a:r>
              <a:rPr spc="-5" dirty="0"/>
              <a:t>DBMS</a:t>
            </a:r>
            <a:r>
              <a:rPr spc="-15" dirty="0"/>
              <a:t> </a:t>
            </a:r>
            <a:r>
              <a:rPr spc="-10" dirty="0"/>
              <a:t>Functionality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23768"/>
            <a:ext cx="8176895" cy="443992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Other</a:t>
            </a:r>
            <a:r>
              <a:rPr sz="2800" spc="-4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features:</a:t>
            </a:r>
            <a:endParaRPr sz="2800">
              <a:latin typeface="Arial MT"/>
              <a:cs typeface="Arial MT"/>
            </a:endParaRPr>
          </a:p>
          <a:p>
            <a:pPr marL="755015" marR="1144270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Protection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or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Security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measures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prevent </a:t>
            </a:r>
            <a:r>
              <a:rPr sz="2600" spc="-7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unauthorized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access</a:t>
            </a:r>
            <a:endParaRPr sz="26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635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“Active”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processing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take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internal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actions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on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endParaRPr sz="26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63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Presentation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Visualization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endParaRPr sz="2600">
              <a:latin typeface="Arial MT"/>
              <a:cs typeface="Arial MT"/>
            </a:endParaRPr>
          </a:p>
          <a:p>
            <a:pPr marL="755650" marR="1216025" lvl="1" indent="-285750">
              <a:lnSpc>
                <a:spcPct val="100000"/>
              </a:lnSpc>
              <a:spcBef>
                <a:spcPts val="63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Maintaining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associated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programs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over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lifetime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database </a:t>
            </a:r>
            <a:r>
              <a:rPr sz="2600" spc="-7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application</a:t>
            </a:r>
            <a:endParaRPr sz="2600">
              <a:latin typeface="Arial MT"/>
              <a:cs typeface="Arial MT"/>
            </a:endParaRPr>
          </a:p>
          <a:p>
            <a:pPr marL="1155700" marR="1759585" lvl="2" indent="-228600">
              <a:lnSpc>
                <a:spcPct val="100000"/>
              </a:lnSpc>
              <a:spcBef>
                <a:spcPts val="570"/>
              </a:spcBef>
              <a:buClr>
                <a:srgbClr val="9A0033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Called database,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software,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 and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system </a:t>
            </a:r>
            <a:r>
              <a:rPr sz="2400" spc="-65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maintenance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112521"/>
            <a:ext cx="642493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10" dirty="0"/>
              <a:t>Database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(with</a:t>
            </a:r>
            <a:r>
              <a:rPr spc="-20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5" dirty="0"/>
              <a:t>Conceptual</a:t>
            </a:r>
            <a:r>
              <a:rPr spc="-20" dirty="0"/>
              <a:t> </a:t>
            </a:r>
            <a:r>
              <a:rPr spc="-5" dirty="0"/>
              <a:t>Data</a:t>
            </a:r>
            <a:r>
              <a:rPr spc="-20" dirty="0"/>
              <a:t> </a:t>
            </a:r>
            <a:r>
              <a:rPr spc="-10" dirty="0"/>
              <a:t>Model)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23768"/>
            <a:ext cx="6099810" cy="39116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33339A"/>
                </a:solidFill>
                <a:latin typeface="Arial"/>
                <a:cs typeface="Arial"/>
              </a:rPr>
              <a:t>Mini-world</a:t>
            </a:r>
            <a:r>
              <a:rPr sz="2800" b="1" spc="-1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33339A"/>
                </a:solidFill>
                <a:latin typeface="Arial"/>
                <a:cs typeface="Arial"/>
              </a:rPr>
              <a:t>for</a:t>
            </a:r>
            <a:r>
              <a:rPr sz="2800" b="1" spc="-1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33339A"/>
                </a:solidFill>
                <a:latin typeface="Arial"/>
                <a:cs typeface="Arial"/>
              </a:rPr>
              <a:t>the</a:t>
            </a:r>
            <a:r>
              <a:rPr sz="2800" b="1" spc="-1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33339A"/>
                </a:solidFill>
                <a:latin typeface="Arial"/>
                <a:cs typeface="Arial"/>
              </a:rPr>
              <a:t>example:</a:t>
            </a:r>
            <a:endParaRPr sz="28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Part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UNIVERSITY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environment.</a:t>
            </a:r>
            <a:endParaRPr sz="2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33339A"/>
                </a:solidFill>
                <a:latin typeface="Arial"/>
                <a:cs typeface="Arial"/>
              </a:rPr>
              <a:t>Some</a:t>
            </a:r>
            <a:r>
              <a:rPr sz="2800" b="1" spc="-2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33339A"/>
                </a:solidFill>
                <a:latin typeface="Arial"/>
                <a:cs typeface="Arial"/>
              </a:rPr>
              <a:t>mini-world</a:t>
            </a:r>
            <a:r>
              <a:rPr sz="2800" b="1" spc="-3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33339A"/>
                </a:solidFill>
                <a:latin typeface="Arial"/>
                <a:cs typeface="Arial"/>
              </a:rPr>
              <a:t>entities</a:t>
            </a:r>
            <a:r>
              <a:rPr sz="2800" b="1" dirty="0">
                <a:solidFill>
                  <a:srgbClr val="33339A"/>
                </a:solidFill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635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STUDENTs</a:t>
            </a:r>
            <a:endParaRPr sz="26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63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COURSEs</a:t>
            </a:r>
            <a:endParaRPr sz="26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3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SECTIONs</a:t>
            </a:r>
            <a:r>
              <a:rPr sz="26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(of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COURSEs)</a:t>
            </a:r>
            <a:endParaRPr sz="26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3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(academic)</a:t>
            </a:r>
            <a:r>
              <a:rPr sz="26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DEPARTMENTs</a:t>
            </a:r>
            <a:endParaRPr sz="26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3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INSTRUCTORs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112521"/>
            <a:ext cx="642493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10" dirty="0"/>
              <a:t>Database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(with</a:t>
            </a:r>
            <a:r>
              <a:rPr spc="-20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5" dirty="0"/>
              <a:t>Conceptual</a:t>
            </a:r>
            <a:r>
              <a:rPr spc="-20" dirty="0"/>
              <a:t> </a:t>
            </a:r>
            <a:r>
              <a:rPr spc="-5" dirty="0"/>
              <a:t>Data</a:t>
            </a:r>
            <a:r>
              <a:rPr spc="-20" dirty="0"/>
              <a:t> </a:t>
            </a:r>
            <a:r>
              <a:rPr spc="-10" dirty="0"/>
              <a:t>Model)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37459"/>
            <a:ext cx="8074025" cy="448119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Some</a:t>
            </a:r>
            <a:r>
              <a:rPr sz="2400" b="1" spc="-3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mini-world</a:t>
            </a:r>
            <a:r>
              <a:rPr sz="2400" b="1" spc="-3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33339A"/>
                </a:solidFill>
                <a:latin typeface="Arial"/>
                <a:cs typeface="Arial"/>
              </a:rPr>
              <a:t>relationships</a:t>
            </a: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53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SECTIONs</a:t>
            </a:r>
            <a:r>
              <a:rPr sz="22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are</a:t>
            </a:r>
            <a:r>
              <a:rPr sz="2200" i="1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of</a:t>
            </a:r>
            <a:r>
              <a:rPr sz="2200" i="1" spc="-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specific</a:t>
            </a:r>
            <a:r>
              <a:rPr sz="2200" i="1" spc="-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COURSEs</a:t>
            </a:r>
            <a:endParaRPr sz="22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52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STUDENTs</a:t>
            </a:r>
            <a:r>
              <a:rPr sz="22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take</a:t>
            </a:r>
            <a:r>
              <a:rPr sz="2200" i="1" spc="-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SECTIONs</a:t>
            </a:r>
            <a:endParaRPr sz="22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  <a:tab pos="2927985" algn="l"/>
              </a:tabLst>
            </a:pP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COURSEs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i="1" spc="-5" dirty="0">
                <a:solidFill>
                  <a:srgbClr val="800000"/>
                </a:solidFill>
                <a:latin typeface="Arial"/>
                <a:cs typeface="Arial"/>
              </a:rPr>
              <a:t>have	prerequisite</a:t>
            </a:r>
            <a:r>
              <a:rPr sz="2200" i="1" spc="-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COURSEs</a:t>
            </a:r>
            <a:endParaRPr sz="22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52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  <a:tab pos="3644900" algn="l"/>
              </a:tabLst>
            </a:pP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INSTRUCTORs</a:t>
            </a:r>
            <a:r>
              <a:rPr sz="22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teach	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SECTIONs</a:t>
            </a:r>
            <a:endParaRPr sz="22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  <a:tab pos="4050029" algn="l"/>
              </a:tabLst>
            </a:pP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COURSEs </a:t>
            </a: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are</a:t>
            </a:r>
            <a:r>
              <a:rPr sz="2200" i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offered</a:t>
            </a:r>
            <a:r>
              <a:rPr sz="2200" i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by	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DEPARTMENTs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  <a:tab pos="3443604" algn="l"/>
              </a:tabLst>
            </a:pP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STUDENTs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major</a:t>
            </a:r>
            <a:r>
              <a:rPr sz="2200" i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in	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DEPARTMENTs</a:t>
            </a:r>
            <a:endParaRPr sz="2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33339A"/>
              </a:buClr>
              <a:buFont typeface="Wingdings"/>
              <a:buChar char=""/>
            </a:pPr>
            <a:endParaRPr sz="345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Note: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The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above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entities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and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relationships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are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typically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expressed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in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conceptual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data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model,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such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as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the 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ENTITY-RELATIONSHIP</a:t>
            </a:r>
            <a:r>
              <a:rPr sz="24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data</a:t>
            </a:r>
            <a:r>
              <a:rPr sz="24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model</a:t>
            </a:r>
            <a:r>
              <a:rPr sz="24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(see</a:t>
            </a:r>
            <a:r>
              <a:rPr sz="24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Chapters</a:t>
            </a:r>
            <a:r>
              <a:rPr sz="24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3,</a:t>
            </a:r>
            <a:r>
              <a:rPr sz="24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A"/>
                </a:solidFill>
                <a:latin typeface="Arial MT"/>
                <a:cs typeface="Arial MT"/>
              </a:rPr>
              <a:t>4)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661923"/>
            <a:ext cx="6146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simple</a:t>
            </a:r>
            <a:r>
              <a:rPr spc="-20" dirty="0"/>
              <a:t> </a:t>
            </a:r>
            <a:r>
              <a:rPr spc="-10" dirty="0"/>
              <a:t>database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6298" y="1511299"/>
            <a:ext cx="4371660" cy="50291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Main Characteristics of the </a:t>
            </a:r>
            <a:r>
              <a:rPr spc="-10" dirty="0"/>
              <a:t>Database </a:t>
            </a:r>
            <a:r>
              <a:rPr spc="-99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37459"/>
            <a:ext cx="7874000" cy="391858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33339A"/>
                </a:solidFill>
                <a:latin typeface="Arial"/>
                <a:cs typeface="Arial"/>
              </a:rPr>
              <a:t>Self-describing</a:t>
            </a:r>
            <a:r>
              <a:rPr sz="2400" b="1" spc="-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A"/>
                </a:solidFill>
                <a:latin typeface="Arial"/>
                <a:cs typeface="Arial"/>
              </a:rPr>
              <a:t>nature</a:t>
            </a:r>
            <a:r>
              <a:rPr sz="2400" b="1" spc="-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A"/>
                </a:solidFill>
                <a:latin typeface="Arial"/>
                <a:cs typeface="Arial"/>
              </a:rPr>
              <a:t>of</a:t>
            </a:r>
            <a:r>
              <a:rPr sz="2400" b="1" spc="-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a database</a:t>
            </a:r>
            <a:r>
              <a:rPr sz="2400" b="1" spc="-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system:</a:t>
            </a:r>
            <a:endParaRPr sz="2400">
              <a:latin typeface="Arial"/>
              <a:cs typeface="Arial"/>
            </a:endParaRPr>
          </a:p>
          <a:p>
            <a:pPr marL="755015" marR="421640" lvl="1" indent="-285750">
              <a:lnSpc>
                <a:spcPct val="100000"/>
              </a:lnSpc>
              <a:spcBef>
                <a:spcPts val="53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DBMS </a:t>
            </a:r>
            <a:r>
              <a:rPr sz="2200" b="1" spc="-5" dirty="0">
                <a:solidFill>
                  <a:srgbClr val="800000"/>
                </a:solidFill>
                <a:latin typeface="Arial"/>
                <a:cs typeface="Arial"/>
              </a:rPr>
              <a:t>catalog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stores the description of a particular </a:t>
            </a:r>
            <a:r>
              <a:rPr sz="2200" spc="-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(e.g.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structures,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types,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constraints)</a:t>
            </a:r>
            <a:endParaRPr sz="22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2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description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called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800000"/>
                </a:solidFill>
                <a:latin typeface="Arial"/>
                <a:cs typeface="Arial"/>
              </a:rPr>
              <a:t>meta-data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  <a:p>
            <a:pPr marL="755015" marR="600710" lvl="1" indent="-285750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This allows the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DBMS software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to work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with different </a:t>
            </a:r>
            <a:r>
              <a:rPr sz="2200" spc="-5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applications.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55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Insulation</a:t>
            </a:r>
            <a:r>
              <a:rPr sz="2400" b="1" spc="-2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between</a:t>
            </a:r>
            <a:r>
              <a:rPr sz="2400" b="1" spc="-2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programs</a:t>
            </a:r>
            <a:r>
              <a:rPr sz="2400" b="1" spc="-2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and</a:t>
            </a:r>
            <a:r>
              <a:rPr sz="2400" b="1" spc="-2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data: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3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Called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800000"/>
                </a:solidFill>
                <a:latin typeface="Arial"/>
                <a:cs typeface="Arial"/>
              </a:rPr>
              <a:t>program-data</a:t>
            </a:r>
            <a:r>
              <a:rPr sz="2200" b="1" spc="-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800000"/>
                </a:solidFill>
                <a:latin typeface="Arial"/>
                <a:cs typeface="Arial"/>
              </a:rPr>
              <a:t>independence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2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Allows</a:t>
            </a:r>
            <a:r>
              <a:rPr sz="22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changing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structures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storage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organization </a:t>
            </a:r>
            <a:r>
              <a:rPr sz="2200" spc="-5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without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having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change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DBMS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access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programs.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725932"/>
            <a:ext cx="73996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Example</a:t>
            </a:r>
            <a:r>
              <a:rPr sz="3200" dirty="0"/>
              <a:t> </a:t>
            </a:r>
            <a:r>
              <a:rPr sz="3200" spc="-5" dirty="0"/>
              <a:t>of</a:t>
            </a:r>
            <a:r>
              <a:rPr sz="3200" spc="5" dirty="0"/>
              <a:t> </a:t>
            </a:r>
            <a:r>
              <a:rPr sz="3200" spc="-5" dirty="0"/>
              <a:t>a</a:t>
            </a:r>
            <a:r>
              <a:rPr sz="3200" dirty="0"/>
              <a:t> </a:t>
            </a:r>
            <a:r>
              <a:rPr sz="3200" spc="-10" dirty="0"/>
              <a:t>simplified</a:t>
            </a:r>
            <a:r>
              <a:rPr sz="3200" spc="5" dirty="0"/>
              <a:t> </a:t>
            </a:r>
            <a:r>
              <a:rPr sz="3200" spc="-10" dirty="0"/>
              <a:t>database</a:t>
            </a:r>
            <a:r>
              <a:rPr sz="3200" dirty="0"/>
              <a:t> </a:t>
            </a:r>
            <a:r>
              <a:rPr sz="3200" spc="-10" dirty="0"/>
              <a:t>catalog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300" y="1587500"/>
            <a:ext cx="6172200" cy="49514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Main Characteristics of the </a:t>
            </a:r>
            <a:r>
              <a:rPr spc="-10" dirty="0"/>
              <a:t>Database </a:t>
            </a:r>
            <a:r>
              <a:rPr spc="-990" dirty="0"/>
              <a:t> </a:t>
            </a:r>
            <a:r>
              <a:rPr spc="-5" dirty="0"/>
              <a:t>Approach </a:t>
            </a:r>
            <a:r>
              <a:rPr spc="-10" dirty="0"/>
              <a:t>(continued)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23768"/>
            <a:ext cx="8178800" cy="446722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dirty="0">
                <a:solidFill>
                  <a:srgbClr val="33339A"/>
                </a:solidFill>
                <a:latin typeface="Arial"/>
                <a:cs typeface="Arial"/>
              </a:rPr>
              <a:t>Data</a:t>
            </a:r>
            <a:r>
              <a:rPr sz="2800" b="1" spc="-4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339A"/>
                </a:solidFill>
                <a:latin typeface="Arial"/>
                <a:cs typeface="Arial"/>
              </a:rPr>
              <a:t>Abstraction:</a:t>
            </a:r>
            <a:endParaRPr sz="2800">
              <a:latin typeface="Arial"/>
              <a:cs typeface="Arial"/>
            </a:endParaRPr>
          </a:p>
          <a:p>
            <a:pPr marL="755015" marR="241935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  <a:tab pos="6899275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b="1" spc="-5" dirty="0">
                <a:solidFill>
                  <a:srgbClr val="800000"/>
                </a:solidFill>
                <a:latin typeface="Arial"/>
                <a:cs typeface="Arial"/>
              </a:rPr>
              <a:t>data</a:t>
            </a:r>
            <a:r>
              <a:rPr sz="26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600" b="1" spc="-5" dirty="0">
                <a:solidFill>
                  <a:srgbClr val="800000"/>
                </a:solidFill>
                <a:latin typeface="Arial"/>
                <a:cs typeface="Arial"/>
              </a:rPr>
              <a:t>model</a:t>
            </a:r>
            <a:r>
              <a:rPr sz="26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used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hide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storage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details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 </a:t>
            </a:r>
            <a:r>
              <a:rPr sz="2600" spc="-7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present</a:t>
            </a:r>
            <a:r>
              <a:rPr sz="2600" spc="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users</a:t>
            </a:r>
            <a:r>
              <a:rPr sz="2600" spc="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with</a:t>
            </a:r>
            <a:r>
              <a:rPr sz="2600" spc="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600" spc="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conceptual</a:t>
            </a:r>
            <a:r>
              <a:rPr sz="2600" spc="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view	of the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database.</a:t>
            </a:r>
            <a:endParaRPr sz="2600">
              <a:latin typeface="Arial MT"/>
              <a:cs typeface="Arial MT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Programs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refer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model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constructs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rather </a:t>
            </a:r>
            <a:r>
              <a:rPr sz="2600" spc="-7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than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storage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details</a:t>
            </a:r>
            <a:endParaRPr sz="2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dirty="0">
                <a:solidFill>
                  <a:srgbClr val="33339A"/>
                </a:solidFill>
                <a:latin typeface="Arial"/>
                <a:cs typeface="Arial"/>
              </a:rPr>
              <a:t>Support</a:t>
            </a:r>
            <a:r>
              <a:rPr sz="2800" b="1" spc="-1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339A"/>
                </a:solidFill>
                <a:latin typeface="Arial"/>
                <a:cs typeface="Arial"/>
              </a:rPr>
              <a:t>of</a:t>
            </a:r>
            <a:r>
              <a:rPr sz="2800" b="1" spc="-1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339A"/>
                </a:solidFill>
                <a:latin typeface="Arial"/>
                <a:cs typeface="Arial"/>
              </a:rPr>
              <a:t>multiple</a:t>
            </a:r>
            <a:r>
              <a:rPr sz="2800" b="1" spc="-1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339A"/>
                </a:solidFill>
                <a:latin typeface="Arial"/>
                <a:cs typeface="Arial"/>
              </a:rPr>
              <a:t>views</a:t>
            </a:r>
            <a:r>
              <a:rPr sz="2800" b="1" spc="-1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339A"/>
                </a:solidFill>
                <a:latin typeface="Arial"/>
                <a:cs typeface="Arial"/>
              </a:rPr>
              <a:t>of</a:t>
            </a:r>
            <a:r>
              <a:rPr sz="2800" b="1" spc="-1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339A"/>
                </a:solidFill>
                <a:latin typeface="Arial"/>
                <a:cs typeface="Arial"/>
              </a:rPr>
              <a:t>the</a:t>
            </a:r>
            <a:r>
              <a:rPr sz="2800" b="1" spc="-1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339A"/>
                </a:solidFill>
                <a:latin typeface="Arial"/>
                <a:cs typeface="Arial"/>
              </a:rPr>
              <a:t>data:</a:t>
            </a:r>
            <a:endParaRPr sz="2800">
              <a:latin typeface="Arial"/>
              <a:cs typeface="Arial"/>
            </a:endParaRPr>
          </a:p>
          <a:p>
            <a:pPr marL="755650" marR="1086485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Each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user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may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see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different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view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database,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which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describes</a:t>
            </a:r>
            <a:r>
              <a:rPr sz="2600" spc="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b="1" spc="-5" dirty="0">
                <a:solidFill>
                  <a:srgbClr val="800000"/>
                </a:solidFill>
                <a:latin typeface="Arial"/>
                <a:cs typeface="Arial"/>
              </a:rPr>
              <a:t>only</a:t>
            </a:r>
            <a:r>
              <a:rPr sz="26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of </a:t>
            </a:r>
            <a:r>
              <a:rPr sz="2600" spc="-7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interest to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that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user.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Main Characteristics of the </a:t>
            </a:r>
            <a:r>
              <a:rPr spc="-10" dirty="0"/>
              <a:t>Database </a:t>
            </a:r>
            <a:r>
              <a:rPr spc="-990" dirty="0"/>
              <a:t> </a:t>
            </a:r>
            <a:r>
              <a:rPr spc="-5" dirty="0"/>
              <a:t>Approach </a:t>
            </a:r>
            <a:r>
              <a:rPr spc="-10" dirty="0"/>
              <a:t>(continued)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611376"/>
            <a:ext cx="8121650" cy="403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631314" indent="-342900">
              <a:lnSpc>
                <a:spcPct val="100000"/>
              </a:lnSpc>
              <a:spcBef>
                <a:spcPts val="100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Sharing of data and multi-user transaction </a:t>
            </a:r>
            <a:r>
              <a:rPr sz="2400" b="1" spc="-65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processing:</a:t>
            </a:r>
            <a:endParaRPr sz="2400">
              <a:latin typeface="Arial"/>
              <a:cs typeface="Arial"/>
            </a:endParaRPr>
          </a:p>
          <a:p>
            <a:pPr marL="755015" marR="144145" lvl="1" indent="-285750">
              <a:lnSpc>
                <a:spcPct val="100000"/>
              </a:lnSpc>
              <a:spcBef>
                <a:spcPts val="53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Allowing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set of </a:t>
            </a:r>
            <a:r>
              <a:rPr sz="2200" b="1" dirty="0">
                <a:solidFill>
                  <a:srgbClr val="800000"/>
                </a:solidFill>
                <a:latin typeface="Arial"/>
                <a:cs typeface="Arial"/>
              </a:rPr>
              <a:t>concurrent users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to retrieve from and to </a:t>
            </a:r>
            <a:r>
              <a:rPr sz="2200" spc="-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update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the database.</a:t>
            </a:r>
            <a:endParaRPr sz="2200">
              <a:latin typeface="Arial MT"/>
              <a:cs typeface="Arial MT"/>
            </a:endParaRPr>
          </a:p>
          <a:p>
            <a:pPr marL="755650" lvl="1" indent="-286385">
              <a:lnSpc>
                <a:spcPts val="2635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Concurrency</a:t>
            </a:r>
            <a:r>
              <a:rPr sz="2200" i="1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800000"/>
                </a:solidFill>
                <a:latin typeface="Arial"/>
                <a:cs typeface="Arial"/>
              </a:rPr>
              <a:t>control</a:t>
            </a:r>
            <a:r>
              <a:rPr sz="2200" i="1" spc="-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within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DBMS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guarantees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that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each</a:t>
            </a:r>
            <a:endParaRPr sz="2200">
              <a:latin typeface="Arial MT"/>
              <a:cs typeface="Arial MT"/>
            </a:endParaRPr>
          </a:p>
          <a:p>
            <a:pPr marL="755015">
              <a:lnSpc>
                <a:spcPts val="2635"/>
              </a:lnSpc>
            </a:pPr>
            <a:r>
              <a:rPr sz="2200" b="1" dirty="0">
                <a:solidFill>
                  <a:srgbClr val="800000"/>
                </a:solidFill>
                <a:latin typeface="Arial"/>
                <a:cs typeface="Arial"/>
              </a:rPr>
              <a:t>transaction</a:t>
            </a:r>
            <a:r>
              <a:rPr sz="2200" b="1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correctly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executed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or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aborted</a:t>
            </a:r>
            <a:endParaRPr sz="2200">
              <a:latin typeface="Arial MT"/>
              <a:cs typeface="Arial MT"/>
            </a:endParaRPr>
          </a:p>
          <a:p>
            <a:pPr marL="755650" marR="191770" lvl="1" indent="-285750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i="1" spc="-5" dirty="0">
                <a:solidFill>
                  <a:srgbClr val="800000"/>
                </a:solidFill>
                <a:latin typeface="Arial"/>
                <a:cs typeface="Arial"/>
              </a:rPr>
              <a:t>Recovery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subsystem ensures each completed transaction </a:t>
            </a:r>
            <a:r>
              <a:rPr sz="2200" spc="-6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has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its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effect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permanently recorded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endParaRPr sz="2200">
              <a:latin typeface="Arial MT"/>
              <a:cs typeface="Arial MT"/>
            </a:endParaRPr>
          </a:p>
          <a:p>
            <a:pPr marL="755650" marR="160020" lvl="1" indent="-285750">
              <a:lnSpc>
                <a:spcPct val="100000"/>
              </a:lnSpc>
              <a:spcBef>
                <a:spcPts val="52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b="1" dirty="0">
                <a:solidFill>
                  <a:srgbClr val="800000"/>
                </a:solidFill>
                <a:latin typeface="Arial"/>
                <a:cs typeface="Arial"/>
              </a:rPr>
              <a:t>OLTP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(Online Transaction Processing) is a major part of </a:t>
            </a:r>
            <a:r>
              <a:rPr sz="22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2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applications.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This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allows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hundreds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2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concurrent </a:t>
            </a:r>
            <a:r>
              <a:rPr sz="2200" spc="-5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transactions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to execute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per second.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661923"/>
            <a:ext cx="3302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Database</a:t>
            </a:r>
            <a:r>
              <a:rPr spc="-70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23768"/>
            <a:ext cx="7976870" cy="38747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Users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may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be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divided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into</a:t>
            </a:r>
            <a:endParaRPr sz="28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Those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who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actually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use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control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database </a:t>
            </a:r>
            <a:r>
              <a:rPr sz="2600" spc="-7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content,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those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who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design,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develop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maintain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applications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(called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“Actors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on </a:t>
            </a:r>
            <a:r>
              <a:rPr sz="2600" spc="-7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Scene”),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endParaRPr sz="2600">
              <a:latin typeface="Arial MT"/>
              <a:cs typeface="Arial MT"/>
            </a:endParaRPr>
          </a:p>
          <a:p>
            <a:pPr marL="755650" marR="340360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Those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who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design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develop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DBMS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software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related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tools,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computer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systems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operators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(called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“Workers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Behind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 </a:t>
            </a:r>
            <a:r>
              <a:rPr sz="2600" spc="-7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Scene”).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661923"/>
            <a:ext cx="3302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Database</a:t>
            </a:r>
            <a:r>
              <a:rPr spc="-70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23768"/>
            <a:ext cx="8218805" cy="45605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Actors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on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the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scene</a:t>
            </a:r>
            <a:endParaRPr sz="28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b="1" spc="-5" dirty="0">
                <a:solidFill>
                  <a:srgbClr val="800000"/>
                </a:solidFill>
                <a:latin typeface="Arial"/>
                <a:cs typeface="Arial"/>
              </a:rPr>
              <a:t>Database administrators:</a:t>
            </a:r>
            <a:endParaRPr sz="2600">
              <a:latin typeface="Arial"/>
              <a:cs typeface="Arial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65"/>
              </a:spcBef>
              <a:buClr>
                <a:srgbClr val="9A0033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Responsible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for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authorizing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access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to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the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database, </a:t>
            </a:r>
            <a:r>
              <a:rPr sz="2400" spc="-65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for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coordinating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and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monitoring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its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use,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acquiring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software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and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hardware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resources,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controlling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its</a:t>
            </a:r>
            <a:r>
              <a:rPr sz="2400" spc="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use </a:t>
            </a:r>
            <a:r>
              <a:rPr sz="2400" spc="-65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and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monitoring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efficiency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of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operations.</a:t>
            </a:r>
            <a:endParaRPr sz="24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15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b="1" spc="-5" dirty="0">
                <a:solidFill>
                  <a:srgbClr val="800000"/>
                </a:solidFill>
                <a:latin typeface="Arial"/>
                <a:cs typeface="Arial"/>
              </a:rPr>
              <a:t>Database</a:t>
            </a:r>
            <a:r>
              <a:rPr sz="2600" b="1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600" b="1" spc="-5" dirty="0">
                <a:solidFill>
                  <a:srgbClr val="800000"/>
                </a:solidFill>
                <a:latin typeface="Arial"/>
                <a:cs typeface="Arial"/>
              </a:rPr>
              <a:t>Designers:</a:t>
            </a:r>
            <a:endParaRPr sz="2600">
              <a:latin typeface="Arial"/>
              <a:cs typeface="Arial"/>
            </a:endParaRPr>
          </a:p>
          <a:p>
            <a:pPr marL="1155700" marR="76200" lvl="2" indent="-228600">
              <a:lnSpc>
                <a:spcPct val="100000"/>
              </a:lnSpc>
              <a:spcBef>
                <a:spcPts val="565"/>
              </a:spcBef>
              <a:buClr>
                <a:srgbClr val="9A0033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Responsible to define the content, the structure, the </a:t>
            </a:r>
            <a:r>
              <a:rPr sz="2400" spc="-65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constraints,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and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functions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or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transactions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against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the database. They must communicate with the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end-users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and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understand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their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needs.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661923"/>
            <a:ext cx="4952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Categories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10" dirty="0"/>
              <a:t>End-users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31452"/>
            <a:ext cx="8105140" cy="432816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Actors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on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the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scene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(continued)</a:t>
            </a:r>
            <a:endParaRPr sz="2800">
              <a:latin typeface="Arial MT"/>
              <a:cs typeface="Arial MT"/>
            </a:endParaRPr>
          </a:p>
          <a:p>
            <a:pPr marL="755015" marR="5080" lvl="1" indent="-285750">
              <a:lnSpc>
                <a:spcPct val="90100"/>
              </a:lnSpc>
              <a:spcBef>
                <a:spcPts val="635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b="1" spc="-5" dirty="0">
                <a:solidFill>
                  <a:srgbClr val="800000"/>
                </a:solidFill>
                <a:latin typeface="Arial"/>
                <a:cs typeface="Arial"/>
              </a:rPr>
              <a:t>End-users:</a:t>
            </a:r>
            <a:r>
              <a:rPr sz="26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They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use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queries,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reports </a:t>
            </a:r>
            <a:r>
              <a:rPr sz="2600" spc="-7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some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them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update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content.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End-users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can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be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categorized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into:</a:t>
            </a:r>
            <a:endParaRPr sz="2600">
              <a:latin typeface="Arial MT"/>
              <a:cs typeface="Arial MT"/>
            </a:endParaRPr>
          </a:p>
          <a:p>
            <a:pPr marL="1155700" marR="923290" lvl="2" indent="-228600">
              <a:lnSpc>
                <a:spcPts val="2590"/>
              </a:lnSpc>
              <a:spcBef>
                <a:spcPts val="600"/>
              </a:spcBef>
              <a:buClr>
                <a:srgbClr val="9A0033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Casual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: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access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occasionally</a:t>
            </a:r>
            <a:r>
              <a:rPr sz="2400" spc="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when </a:t>
            </a:r>
            <a:r>
              <a:rPr sz="2400" spc="-65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needed</a:t>
            </a:r>
            <a:endParaRPr sz="2400">
              <a:latin typeface="Arial MT"/>
              <a:cs typeface="Arial MT"/>
            </a:endParaRPr>
          </a:p>
          <a:p>
            <a:pPr marL="1155700" marR="146685" lvl="2" indent="-228600">
              <a:lnSpc>
                <a:spcPts val="2590"/>
              </a:lnSpc>
              <a:spcBef>
                <a:spcPts val="565"/>
              </a:spcBef>
              <a:buClr>
                <a:srgbClr val="9A0033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sz="2400" b="1" spc="-5" dirty="0">
                <a:solidFill>
                  <a:srgbClr val="33339A"/>
                </a:solidFill>
                <a:latin typeface="Arial"/>
                <a:cs typeface="Arial"/>
              </a:rPr>
              <a:t>Naïve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or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Parametric: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they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make up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large section </a:t>
            </a:r>
            <a:r>
              <a:rPr sz="2400" spc="-65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of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the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end-user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population.</a:t>
            </a:r>
            <a:endParaRPr sz="2400">
              <a:latin typeface="Arial MT"/>
              <a:cs typeface="Arial MT"/>
            </a:endParaRPr>
          </a:p>
          <a:p>
            <a:pPr marL="1612900" marR="163830" lvl="3" indent="-228600">
              <a:lnSpc>
                <a:spcPts val="2170"/>
              </a:lnSpc>
              <a:spcBef>
                <a:spcPts val="470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1612900" algn="l"/>
              </a:tabLst>
            </a:pP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They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use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previously</a:t>
            </a:r>
            <a:r>
              <a:rPr sz="2000" spc="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well-defined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functions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form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of </a:t>
            </a:r>
            <a:r>
              <a:rPr sz="2000" spc="-5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“canned transactions”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against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the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database.</a:t>
            </a:r>
            <a:endParaRPr sz="2000">
              <a:latin typeface="Arial MT"/>
              <a:cs typeface="Arial MT"/>
            </a:endParaRPr>
          </a:p>
          <a:p>
            <a:pPr marL="1612900" marR="307340" lvl="3" indent="-228600">
              <a:lnSpc>
                <a:spcPts val="2170"/>
              </a:lnSpc>
              <a:spcBef>
                <a:spcPts val="459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1612900" algn="l"/>
              </a:tabLst>
            </a:pP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Examples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are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bank-tellers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or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reservation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clerks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who</a:t>
            </a:r>
            <a:r>
              <a:rPr sz="20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do </a:t>
            </a:r>
            <a:r>
              <a:rPr sz="2000" spc="-5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this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activity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for an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entire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shift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of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operations.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661923"/>
            <a:ext cx="7364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Categories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End-users</a:t>
            </a:r>
            <a:r>
              <a:rPr spc="-20" dirty="0"/>
              <a:t> </a:t>
            </a:r>
            <a:r>
              <a:rPr spc="-10" dirty="0"/>
              <a:t>(continued)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817244" indent="-228600">
              <a:lnSpc>
                <a:spcPct val="100000"/>
              </a:lnSpc>
              <a:spcBef>
                <a:spcPts val="695"/>
              </a:spcBef>
              <a:buClr>
                <a:srgbClr val="9A0033"/>
              </a:buClr>
              <a:buSzPct val="50000"/>
              <a:buFont typeface="Wingdings"/>
              <a:buChar char=""/>
              <a:tabLst>
                <a:tab pos="817880" algn="l"/>
              </a:tabLst>
            </a:pPr>
            <a:r>
              <a:rPr spc="-5" dirty="0"/>
              <a:t>Sophisticated:</a:t>
            </a:r>
          </a:p>
          <a:p>
            <a:pPr marL="1274445" marR="381000" lvl="1" indent="-228600">
              <a:lnSpc>
                <a:spcPct val="100000"/>
              </a:lnSpc>
              <a:spcBef>
                <a:spcPts val="500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1275080" algn="l"/>
              </a:tabLst>
            </a:pP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These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include</a:t>
            </a:r>
            <a:r>
              <a:rPr sz="20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business</a:t>
            </a:r>
            <a:r>
              <a:rPr sz="20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analysts,</a:t>
            </a:r>
            <a:r>
              <a:rPr sz="20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scientists,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engineers, </a:t>
            </a:r>
            <a:r>
              <a:rPr sz="2000" spc="-5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others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thoroughly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familiar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with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system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capabilities.</a:t>
            </a:r>
            <a:endParaRPr sz="2000">
              <a:latin typeface="Arial MT"/>
              <a:cs typeface="Arial MT"/>
            </a:endParaRPr>
          </a:p>
          <a:p>
            <a:pPr marL="1274445" marR="9525" lvl="1" indent="-228600">
              <a:lnSpc>
                <a:spcPct val="100000"/>
              </a:lnSpc>
              <a:spcBef>
                <a:spcPts val="470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1275080" algn="l"/>
              </a:tabLst>
            </a:pP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Many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use tools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in the form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of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software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packages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that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work </a:t>
            </a:r>
            <a:r>
              <a:rPr sz="2000" spc="-5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closely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with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stored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database.</a:t>
            </a:r>
            <a:endParaRPr sz="2000">
              <a:latin typeface="Arial MT"/>
              <a:cs typeface="Arial MT"/>
            </a:endParaRPr>
          </a:p>
          <a:p>
            <a:pPr marL="817244" indent="-228600">
              <a:lnSpc>
                <a:spcPct val="100000"/>
              </a:lnSpc>
              <a:spcBef>
                <a:spcPts val="550"/>
              </a:spcBef>
              <a:buClr>
                <a:srgbClr val="9A0033"/>
              </a:buClr>
              <a:buSzPct val="50000"/>
              <a:buFont typeface="Wingdings"/>
              <a:buChar char=""/>
              <a:tabLst>
                <a:tab pos="817880" algn="l"/>
              </a:tabLst>
            </a:pPr>
            <a:r>
              <a:rPr spc="-5" dirty="0"/>
              <a:t>Stand-alone:</a:t>
            </a:r>
          </a:p>
          <a:p>
            <a:pPr marL="1274445" marR="326390" lvl="1" indent="-228600">
              <a:lnSpc>
                <a:spcPct val="100000"/>
              </a:lnSpc>
              <a:spcBef>
                <a:spcPts val="495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1275080" algn="l"/>
              </a:tabLst>
            </a:pP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Mostly</a:t>
            </a:r>
            <a:r>
              <a:rPr sz="20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maintain</a:t>
            </a:r>
            <a:r>
              <a:rPr sz="20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personal</a:t>
            </a:r>
            <a:r>
              <a:rPr sz="2000" spc="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databases</a:t>
            </a:r>
            <a:r>
              <a:rPr sz="20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using</a:t>
            </a:r>
            <a:r>
              <a:rPr sz="20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ready-to-use </a:t>
            </a:r>
            <a:r>
              <a:rPr sz="2000" spc="-5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packaged applications.</a:t>
            </a:r>
            <a:endParaRPr sz="2000">
              <a:latin typeface="Arial MT"/>
              <a:cs typeface="Arial MT"/>
            </a:endParaRPr>
          </a:p>
          <a:p>
            <a:pPr marL="1274445" marR="501650" lvl="1" indent="-228600">
              <a:lnSpc>
                <a:spcPct val="100000"/>
              </a:lnSpc>
              <a:spcBef>
                <a:spcPts val="475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1275080" algn="l"/>
              </a:tabLst>
            </a:pP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An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example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is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 tax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program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user that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creates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its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own </a:t>
            </a:r>
            <a:r>
              <a:rPr sz="2000" spc="-5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internal database.</a:t>
            </a:r>
            <a:endParaRPr sz="2000">
              <a:latin typeface="Arial MT"/>
              <a:cs typeface="Arial MT"/>
            </a:endParaRPr>
          </a:p>
          <a:p>
            <a:pPr marL="1274445" lvl="1" indent="-228600">
              <a:lnSpc>
                <a:spcPct val="100000"/>
              </a:lnSpc>
              <a:spcBef>
                <a:spcPts val="475"/>
              </a:spcBef>
              <a:buClr>
                <a:srgbClr val="33339A"/>
              </a:buClr>
              <a:buSzPct val="55000"/>
              <a:buFont typeface="Wingdings"/>
              <a:buChar char=""/>
              <a:tabLst>
                <a:tab pos="1275080" algn="l"/>
              </a:tabLst>
            </a:pP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Another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example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user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that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maintains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an</a:t>
            </a:r>
            <a:r>
              <a:rPr sz="20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address</a:t>
            </a:r>
            <a:r>
              <a:rPr sz="20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book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Advantages of Using the </a:t>
            </a:r>
            <a:r>
              <a:rPr spc="-10" dirty="0"/>
              <a:t>Database </a:t>
            </a:r>
            <a:r>
              <a:rPr spc="-99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611375"/>
            <a:ext cx="8030209" cy="379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476250" indent="-342900">
              <a:lnSpc>
                <a:spcPct val="100000"/>
              </a:lnSpc>
              <a:spcBef>
                <a:spcPts val="10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Controlling redundancy in data storage and in </a:t>
            </a:r>
            <a:r>
              <a:rPr sz="2800" spc="-76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development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and</a:t>
            </a: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maintenance</a:t>
            </a: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efforts.</a:t>
            </a:r>
            <a:endParaRPr sz="280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Sharing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among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multiple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users.</a:t>
            </a:r>
            <a:endParaRPr sz="2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Restricting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unauthorized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access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to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data.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Providing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persistent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storage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for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program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Objects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Object-oriented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DBMSs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–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see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Chapters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20-22</a:t>
            </a:r>
            <a:endParaRPr sz="2600">
              <a:latin typeface="Arial MT"/>
              <a:cs typeface="Arial MT"/>
            </a:endParaRPr>
          </a:p>
          <a:p>
            <a:pPr marL="355600" marR="342265" indent="-342900">
              <a:lnSpc>
                <a:spcPct val="100000"/>
              </a:lnSpc>
              <a:spcBef>
                <a:spcPts val="67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Providing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Storage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Structures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(e.g.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indexes)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for </a:t>
            </a:r>
            <a:r>
              <a:rPr sz="2800" spc="-76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efficient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Query</a:t>
            </a: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Processing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Advantages of Using the </a:t>
            </a:r>
            <a:r>
              <a:rPr spc="-10" dirty="0"/>
              <a:t>Database </a:t>
            </a:r>
            <a:r>
              <a:rPr spc="-990" dirty="0"/>
              <a:t> </a:t>
            </a:r>
            <a:r>
              <a:rPr spc="-5" dirty="0"/>
              <a:t>Approach </a:t>
            </a:r>
            <a:r>
              <a:rPr spc="-10" dirty="0"/>
              <a:t>(continued)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25574"/>
            <a:ext cx="8095615" cy="34429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Providing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backup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and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recovery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services.</a:t>
            </a:r>
            <a:endParaRPr sz="2800">
              <a:latin typeface="Arial MT"/>
              <a:cs typeface="Arial MT"/>
            </a:endParaRPr>
          </a:p>
          <a:p>
            <a:pPr marL="354965" marR="208915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Providing multiple interfaces to different classes </a:t>
            </a:r>
            <a:r>
              <a:rPr sz="2800" spc="-77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users.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Representing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complex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relationships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among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data.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Enforcing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integrity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constraints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on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the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database.</a:t>
            </a:r>
            <a:endParaRPr sz="2800">
              <a:latin typeface="Arial MT"/>
              <a:cs typeface="Arial MT"/>
            </a:endParaRPr>
          </a:p>
          <a:p>
            <a:pPr marL="355600" marR="26797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Drawing inferences and actions from the stored </a:t>
            </a:r>
            <a:r>
              <a:rPr sz="2800" spc="-77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</a:t>
            </a: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using</a:t>
            </a: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deductive</a:t>
            </a: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and active</a:t>
            </a:r>
            <a:r>
              <a:rPr sz="2800" spc="-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rules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Additional Implications of Using the </a:t>
            </a:r>
            <a:r>
              <a:rPr spc="-990" dirty="0"/>
              <a:t> </a:t>
            </a:r>
            <a:r>
              <a:rPr spc="-5" dirty="0"/>
              <a:t>Database</a:t>
            </a:r>
            <a:r>
              <a:rPr spc="-10" dirty="0"/>
              <a:t> Approach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23768"/>
            <a:ext cx="8194040" cy="39909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Potential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for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enforcing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standards:</a:t>
            </a:r>
            <a:endParaRPr sz="28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This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very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crucial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success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database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applications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large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organizations.</a:t>
            </a:r>
            <a:r>
              <a:rPr sz="2600" spc="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b="1" spc="-5" dirty="0">
                <a:solidFill>
                  <a:srgbClr val="800000"/>
                </a:solidFill>
                <a:latin typeface="Arial"/>
                <a:cs typeface="Arial"/>
              </a:rPr>
              <a:t>Standards </a:t>
            </a:r>
            <a:r>
              <a:rPr sz="2600" b="1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refer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item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names,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display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formats,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screens, </a:t>
            </a:r>
            <a:r>
              <a:rPr sz="2600" spc="-7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report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structures,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meta-data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(description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data),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Web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page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layouts,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etc.</a:t>
            </a:r>
            <a:endParaRPr sz="2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Reduced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application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development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time:</a:t>
            </a:r>
            <a:endParaRPr sz="2800">
              <a:latin typeface="Arial MT"/>
              <a:cs typeface="Arial MT"/>
            </a:endParaRPr>
          </a:p>
          <a:p>
            <a:pPr marL="755650" marR="462915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Incremental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time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add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each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new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application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is </a:t>
            </a:r>
            <a:r>
              <a:rPr sz="2600" spc="-7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reduced.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Additional Implications of Using the </a:t>
            </a:r>
            <a:r>
              <a:rPr spc="-990" dirty="0"/>
              <a:t> </a:t>
            </a:r>
            <a:r>
              <a:rPr spc="-5" dirty="0"/>
              <a:t>Database</a:t>
            </a:r>
            <a:r>
              <a:rPr spc="-15" dirty="0"/>
              <a:t> </a:t>
            </a:r>
            <a:r>
              <a:rPr spc="-5" dirty="0"/>
              <a:t>Approach</a:t>
            </a:r>
            <a:r>
              <a:rPr spc="-10" dirty="0"/>
              <a:t> (continued)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23768"/>
            <a:ext cx="8072755" cy="458279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Flexibility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to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change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structures:</a:t>
            </a:r>
            <a:endParaRPr sz="2800">
              <a:latin typeface="Arial MT"/>
              <a:cs typeface="Arial MT"/>
            </a:endParaRPr>
          </a:p>
          <a:p>
            <a:pPr marL="755015" marR="1608455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structure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may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evolve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as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new </a:t>
            </a:r>
            <a:r>
              <a:rPr sz="2600" spc="-7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requirements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are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defined.</a:t>
            </a:r>
            <a:endParaRPr sz="2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Availability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current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information:</a:t>
            </a:r>
            <a:endParaRPr sz="2800">
              <a:latin typeface="Arial MT"/>
              <a:cs typeface="Arial MT"/>
            </a:endParaRPr>
          </a:p>
          <a:p>
            <a:pPr marL="755650" marR="361315" lvl="1" indent="-285750">
              <a:lnSpc>
                <a:spcPct val="100000"/>
              </a:lnSpc>
              <a:spcBef>
                <a:spcPts val="635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Extremely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important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on-line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transaction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systems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such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airline,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hotel,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car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reservations.</a:t>
            </a:r>
            <a:endParaRPr sz="2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Economies</a:t>
            </a:r>
            <a:r>
              <a:rPr sz="2800" spc="-3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800" spc="-2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scale:</a:t>
            </a:r>
            <a:endParaRPr sz="2800">
              <a:latin typeface="Arial MT"/>
              <a:cs typeface="Arial MT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Wasteful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overlap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resources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personnel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can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be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avoided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by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consolidating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applications </a:t>
            </a:r>
            <a:r>
              <a:rPr sz="2600" spc="-7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across departments.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655" y="661923"/>
            <a:ext cx="5180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When</a:t>
            </a:r>
            <a:r>
              <a:rPr spc="-25" dirty="0"/>
              <a:t> </a:t>
            </a:r>
            <a:r>
              <a:rPr spc="-5" dirty="0"/>
              <a:t>not</a:t>
            </a:r>
            <a:r>
              <a:rPr spc="-20" dirty="0"/>
              <a:t> </a:t>
            </a:r>
            <a:r>
              <a:rPr spc="-5" dirty="0"/>
              <a:t>to</a:t>
            </a:r>
            <a:r>
              <a:rPr spc="-20" dirty="0"/>
              <a:t> </a:t>
            </a:r>
            <a:r>
              <a:rPr spc="-5" dirty="0"/>
              <a:t>use</a:t>
            </a:r>
            <a:r>
              <a:rPr spc="-20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5" dirty="0"/>
              <a:t>DBMS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37459"/>
            <a:ext cx="8158480" cy="425259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Main inhibitors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(costs) of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using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 DBMS:</a:t>
            </a:r>
            <a:endParaRPr sz="2400">
              <a:latin typeface="Arial MT"/>
              <a:cs typeface="Arial MT"/>
            </a:endParaRPr>
          </a:p>
          <a:p>
            <a:pPr marL="755015" marR="645795" lvl="1" indent="-285750">
              <a:lnSpc>
                <a:spcPct val="100000"/>
              </a:lnSpc>
              <a:spcBef>
                <a:spcPts val="53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High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initial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investment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possible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need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additional </a:t>
            </a:r>
            <a:r>
              <a:rPr sz="2200" spc="-5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hardware.</a:t>
            </a:r>
            <a:endParaRPr sz="2200">
              <a:latin typeface="Arial MT"/>
              <a:cs typeface="Arial MT"/>
            </a:endParaRPr>
          </a:p>
          <a:p>
            <a:pPr marL="755015" marR="460375" lvl="1" indent="-285750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  <a:tab pos="360172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Overhead</a:t>
            </a:r>
            <a:r>
              <a:rPr sz="22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providing</a:t>
            </a:r>
            <a:r>
              <a:rPr sz="22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generality,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security,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concurrency </a:t>
            </a:r>
            <a:r>
              <a:rPr sz="2200" spc="-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control,</a:t>
            </a:r>
            <a:r>
              <a:rPr sz="22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recovery,</a:t>
            </a:r>
            <a:r>
              <a:rPr sz="22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	integrity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functions.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55"/>
              </a:spcBef>
              <a:buClr>
                <a:srgbClr val="9A0033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When</a:t>
            </a:r>
            <a:r>
              <a:rPr sz="24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DBMS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A"/>
                </a:solidFill>
                <a:latin typeface="Arial MT"/>
                <a:cs typeface="Arial MT"/>
              </a:rPr>
              <a:t>may</a:t>
            </a:r>
            <a:r>
              <a:rPr sz="24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33339A"/>
                </a:solidFill>
                <a:latin typeface="Arial MT"/>
                <a:cs typeface="Arial MT"/>
              </a:rPr>
              <a:t>be unnecessary:</a:t>
            </a:r>
            <a:endParaRPr sz="2400">
              <a:latin typeface="Arial MT"/>
              <a:cs typeface="Arial MT"/>
            </a:endParaRPr>
          </a:p>
          <a:p>
            <a:pPr marL="755650" marR="366395" lvl="1" indent="-285750">
              <a:lnSpc>
                <a:spcPct val="100000"/>
              </a:lnSpc>
              <a:spcBef>
                <a:spcPts val="535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If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applications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are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simple,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well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defined, </a:t>
            </a:r>
            <a:r>
              <a:rPr sz="2200" spc="-5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not expected to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change.</a:t>
            </a:r>
            <a:endParaRPr sz="2200">
              <a:latin typeface="Arial MT"/>
              <a:cs typeface="Arial MT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If there are stringent real-time requirements that may not be </a:t>
            </a:r>
            <a:r>
              <a:rPr sz="2200" spc="-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met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because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DBMS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overhead.</a:t>
            </a:r>
            <a:endParaRPr sz="2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lr>
                <a:srgbClr val="33339A"/>
              </a:buClr>
              <a:buSzPct val="54545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If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access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by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multiple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users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not</a:t>
            </a:r>
            <a:r>
              <a:rPr sz="22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required.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655" y="661923"/>
            <a:ext cx="5180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When</a:t>
            </a:r>
            <a:r>
              <a:rPr spc="-25" dirty="0"/>
              <a:t> </a:t>
            </a:r>
            <a:r>
              <a:rPr spc="-5" dirty="0"/>
              <a:t>not</a:t>
            </a:r>
            <a:r>
              <a:rPr spc="-20" dirty="0"/>
              <a:t> </a:t>
            </a:r>
            <a:r>
              <a:rPr spc="-5" dirty="0"/>
              <a:t>to</a:t>
            </a:r>
            <a:r>
              <a:rPr spc="-20" dirty="0"/>
              <a:t> </a:t>
            </a:r>
            <a:r>
              <a:rPr spc="-5" dirty="0"/>
              <a:t>use</a:t>
            </a:r>
            <a:r>
              <a:rPr spc="-20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5" dirty="0"/>
              <a:t>DBMS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23768"/>
            <a:ext cx="8138795" cy="228790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When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no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DBMS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may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suffice:</a:t>
            </a:r>
            <a:endParaRPr sz="28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40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If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system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not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able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handle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complexity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because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modeling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limitations</a:t>
            </a:r>
            <a:endParaRPr sz="2600">
              <a:latin typeface="Arial MT"/>
              <a:cs typeface="Arial MT"/>
            </a:endParaRPr>
          </a:p>
          <a:p>
            <a:pPr marL="755015" marR="144780" lvl="1" indent="-285750">
              <a:lnSpc>
                <a:spcPct val="100000"/>
              </a:lnSpc>
              <a:spcBef>
                <a:spcPts val="635"/>
              </a:spcBef>
              <a:buClr>
                <a:srgbClr val="33339A"/>
              </a:buClr>
              <a:buSzPct val="5384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If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users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need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special</a:t>
            </a:r>
            <a:r>
              <a:rPr sz="2600" spc="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operations</a:t>
            </a:r>
            <a:r>
              <a:rPr sz="26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not </a:t>
            </a:r>
            <a:r>
              <a:rPr sz="2600" spc="-7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supported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by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00000"/>
                </a:solidFill>
                <a:latin typeface="Arial MT"/>
                <a:cs typeface="Arial MT"/>
              </a:rPr>
              <a:t>DBMS.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02" y="661923"/>
            <a:ext cx="1981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5" dirty="0"/>
              <a:t>Slide</a:t>
            </a:r>
            <a:r>
              <a:rPr spc="-45" dirty="0"/>
              <a:t> </a:t>
            </a:r>
            <a:r>
              <a:rPr spc="-5" dirty="0"/>
              <a:t>1-</a:t>
            </a:r>
            <a:r>
              <a:rPr spc="-35" dirty="0"/>
              <a:t> </a:t>
            </a: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Copyright</a:t>
            </a:r>
            <a:r>
              <a:rPr dirty="0"/>
              <a:t> © </a:t>
            </a:r>
            <a:r>
              <a:rPr spc="-5" dirty="0"/>
              <a:t>2007</a:t>
            </a:r>
            <a:r>
              <a:rPr dirty="0"/>
              <a:t> </a:t>
            </a:r>
            <a:r>
              <a:rPr spc="-5" dirty="0"/>
              <a:t>Ramez</a:t>
            </a:r>
            <a:r>
              <a:rPr dirty="0"/>
              <a:t> </a:t>
            </a:r>
            <a:r>
              <a:rPr spc="-5" dirty="0"/>
              <a:t>Elmasri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Shamkant</a:t>
            </a:r>
            <a:r>
              <a:rPr dirty="0"/>
              <a:t> </a:t>
            </a:r>
            <a:r>
              <a:rPr spc="-5" dirty="0"/>
              <a:t>B.</a:t>
            </a:r>
            <a:r>
              <a:rPr dirty="0"/>
              <a:t> </a:t>
            </a:r>
            <a:r>
              <a:rPr spc="-10" dirty="0"/>
              <a:t>Navathe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070" y="1525574"/>
            <a:ext cx="7870825" cy="41275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Types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Databases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and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Applications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Basic</a:t>
            </a:r>
            <a:r>
              <a:rPr sz="2800" spc="-4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Definitions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Typical</a:t>
            </a:r>
            <a:r>
              <a:rPr sz="2800" spc="-3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DBMS</a:t>
            </a:r>
            <a:r>
              <a:rPr sz="2800" spc="-3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Functionality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Example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(UNIVERSITY)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Main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Characteristics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the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Approach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800" spc="-4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Users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Advantages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of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Using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the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</a:t>
            </a:r>
            <a:r>
              <a:rPr sz="2800" spc="-1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Approach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9A0033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When</a:t>
            </a:r>
            <a:r>
              <a:rPr sz="2800" spc="-20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Not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to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Use</a:t>
            </a:r>
            <a:r>
              <a:rPr sz="2800" spc="-15" dirty="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A"/>
                </a:solidFill>
                <a:latin typeface="Arial MT"/>
                <a:cs typeface="Arial MT"/>
              </a:rPr>
              <a:t>Databases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853</TotalTime>
  <Words>1736</Words>
  <Application>Microsoft Macintosh PowerPoint</Application>
  <PresentationFormat>Custom</PresentationFormat>
  <Paragraphs>214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MT</vt:lpstr>
      <vt:lpstr>Calibri</vt:lpstr>
      <vt:lpstr>Wingdings</vt:lpstr>
      <vt:lpstr>Office Theme</vt:lpstr>
      <vt:lpstr>PowerPoint Presentation</vt:lpstr>
      <vt:lpstr>Outline</vt:lpstr>
      <vt:lpstr>Types of Databases and Database  Applications</vt:lpstr>
      <vt:lpstr>Basic Definitions</vt:lpstr>
      <vt:lpstr>Simplified database system environment</vt:lpstr>
      <vt:lpstr>Typical DBMS Functionality</vt:lpstr>
      <vt:lpstr>Typical DBMS Functionality</vt:lpstr>
      <vt:lpstr>Example of a Database (with a Conceptual Data Model)</vt:lpstr>
      <vt:lpstr>Example of a Database (with a Conceptual Data Model)</vt:lpstr>
      <vt:lpstr>Example of a simple database</vt:lpstr>
      <vt:lpstr>Main Characteristics of the Database  Approach</vt:lpstr>
      <vt:lpstr>Example of a simplified database catalog</vt:lpstr>
      <vt:lpstr>Main Characteristics of the Database  Approach (continued)</vt:lpstr>
      <vt:lpstr>Main Characteristics of the Database  Approach (continued)</vt:lpstr>
      <vt:lpstr>Database Users</vt:lpstr>
      <vt:lpstr>Database Users</vt:lpstr>
      <vt:lpstr>Categories of End-users</vt:lpstr>
      <vt:lpstr>Categories of End-users (continued)</vt:lpstr>
      <vt:lpstr>Advantages of Using the Database  Approach</vt:lpstr>
      <vt:lpstr>Advantages of Using the Database  Approach (continued)</vt:lpstr>
      <vt:lpstr>Additional Implications of Using the  Database Approach</vt:lpstr>
      <vt:lpstr>Additional Implications of Using the  Database Approach (continued)</vt:lpstr>
      <vt:lpstr>When not to use a DBMS</vt:lpstr>
      <vt:lpstr>When not to use a DBMS</vt:lpstr>
      <vt:lpstr>Summary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subject>Introduction: Databases and Database Users</dc:subject>
  <dc:creator>Elmasri/Navathe</dc:creator>
  <cp:lastModifiedBy>Dr. Roli Bansal</cp:lastModifiedBy>
  <cp:revision>3</cp:revision>
  <dcterms:created xsi:type="dcterms:W3CDTF">2022-01-05T04:16:16Z</dcterms:created>
  <dcterms:modified xsi:type="dcterms:W3CDTF">2024-01-23T05:00:53Z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2006-05-16T00:00:00Z</vt:filetime>
  </property>
  <property fmtid="{D5CDD505-2E9C-101B-9397-08002B2CF9AE}" pid="3" name="Creator">
    <vt:lpwstr>Acrobat PDFMaker 7.0.5 for PowerPoint</vt:lpwstr>
  </property>
  <property fmtid="{D5CDD505-2E9C-101B-9397-08002B2CF9AE}" pid="4" name="LastSaved">
    <vt:filetime>2022-01-05T00:00:00Z</vt:filetime>
  </property>
</Properties>
</file>